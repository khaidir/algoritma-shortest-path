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Assalamu'alaikum warahmatullahi wabarakatuh. Bismillahirrahmanirrahim. Alhamdulillah, puji syukur kita panjatkan ke hadirat Allah SWT, sehingga kami dapat menyelesaikan Tugas 1 mata kuliah MMAI1001 Kecerdasan Artificial. Shalawat dan salam semoga tercurah kepada Nabi Muhammad SAW. Yang kami hormati Bapak/Ibu dosen pengampu, serta teman-teman sekalian. Kami dari Kelompok [X], beranggotakan saya [Nama 1], [Nama 2], [Nama 3], dan [Nama 4]. Kami akan mempresentasikan proyek Visualisasi Pencarian Jalur Terpendek dengan Algoritma Dijkstra dan A-Star.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Setiap hari kita memakai aplikasi peta untuk mencari rute tercepat. Di balik itu ada persoalan klasik ilmu komputer, yaitu shortest path: mencari jalur antara dua titik dengan total bobot paling kecil. Bobot itu bisa berarti jarak, waktu tempuh, atau biaya. Persoalan ini dimodelkan dengan graf. Simpul atau vertex mewakili lokasi, sisi atau edge mewakili jalan, dan bobot adalah angka pada setiap 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Tugas kami ada tiga. Pertama, membuat program Python yang membaca graf dari file graf.txt, lalu mengeluarkan jalur, bobot minimum, dan waktu running. Kedua, menerapkan dua algoritma berbeda dan membandingkannya. Ketiga, membangun antarmuka grafis yang menunjukkan proses pencarian secara dinamis.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File graf.txt berisi daftar simpul beserta tetangganya. Misalnya baris V1 berisi V2 bernilai 120 dan V4 bernilai 200. Artinya, V1 terhubung ke V2 dengan bobot 120, dan ke V4 dengan bobot 200. Baris terakhir berisi simpul awal dan akhir, yaitu V1 dan V15. Graf input A ini memiliki 15 simpul dan 18 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Dari empat algoritma di soal, kami memilih Dijkstra dan A-Star. Alasannya, semua bobot pada graf bernilai positif, dan yang dicari hanya jalur dari satu titik ke satu titik. Untuk kondisi ini, Dijkstra adalah solusi klasik yang optimal. A-Star adalah pengembangan Dijkstra yang memakai heuristik, dan heuristik adalah inti materi pencarian cerdas di mata kuliah AI. Bellman-Ford tidak kami pakai karena tidak ada bobot negatif, dan algoritma itu lebih lambat. Floyd-Warshall menghitung jarak semua pasangan simpul, sehingga berlebihan untuk satu pasangan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Program kami terdiri atas lima file Python. MMAIKelompokX.py adalah file utama. pembaca_graf.py membaca dan memeriksa file graf. algoritma.py berisi Dijkstra dan A-Star. tata_letak.py menghitung posisi simpul di layar, dan visualisasi.py membangun tampilannya dengan tkinter. Kami sengaja hanya memakai pustaka bawaan Python. Dengan begitu, program bisa langsung dijalankan di komputer mana pun tanpa instalasi tambahan. Selanjutnya, [Nama 2] akan menjelaskan bagaimana kedua algoritma ini bekerja. Silakan.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Terima kasih, [Nama 1]. Saya akan menjelaskan cara kerja kedua algoritma dan bagaimana kami menerapkannya dalam kode. Dijkstra bekerja dengan prinsip greedy, yaitu selalu mengambil pilihan terbaik saat itu. Di awal, jarak simpul awal diisi nol, dan simpul lain diisi tak hingga. Lalu kita ulangi tiga langkah. Pertama, ambil simpul dengan jarak terkecil dari antrian prioritas. Kedua, tandai jaraknya sebagai final. Ketiga, periksa semua tetangganya: jika jarak lewat simpul ini lebih kecil dari catatan sebelumnya, catatan itu diperbarui. Langkah memperbarui ini disebut relaksasi. Contoh pada input A: dari V1 kita mencapai V2 dengan jarak 120, dan V4 dengan jarak 200. Karena 120 lebih kecil, V2 diambil lebih dulu. Proses berhenti ketika V15 diambil, lalu jalurnya ditelusuri balik lewat catatan induk setiap simpul.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A-Star mirip Dijkstra, tetapi urutan pengambilannya berdasarkan nilai f, yaitu g ditambah h. g adalah biaya dari titik awal, sedangkan h adalah perkiraan sisa biaya menuju tujuan. Tantangannya, file graf tidak memiliki koordinat, sehingga kita tidak bisa memakai jarak garis lurus. Solusi kami: h sama dengan bobot sisi terkecil dikali jumlah langkah minimum menuju tujuan. Pada input A, bobot terkecil adalah 70, dan V1 butuh minimal 4 langkah ke V15. Jadi h dari V1 adalah 280. Perkiraan ini tidak pernah melebihi biaya sebenarnya, karena setiap langkah pasti berbobot minimal 70. Sifat ini disebut admissible, dan menjamin A-Star tetap menemukan jalur terpendek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Dengan antrian prioritas berbentuk binary heap, kompleksitas waktu Dijkstra adalah O((V + E) log V), dan kompleksitas ruangnya O(V + E). V adalah jumlah simpul, E jumlah sisi. A-Star dalam kasus terburuk sama, ditambah O(V + E) untuk menghitung heuristik dengan BFS.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Di dalam kode, antrian prioritas memakai modul heapq dari Python. Kedua fungsi dapat mencatat setiap langkah, yaitu simpul yang diambil dan sisi yang diperiksa. Catatan inilah yang kemudian dianimasikan di layar. Untuk waktu running, satu kali pencarian hanya butuh beberapa mikrodetik. Karena itu, setiap algoritma kami jalankan ribuan kali tanpa animasi, lalu hasilnya dirata-rata. Selain itu, pembaca file kami memakai ast.literal_eval, sehingga isi file tidak pernah dijalankan sebagai kode. Bobot negatif juga langsung ditolak dengan pesan yang jelas. Berikutnya, [Nama 3] akan mendemokan programnya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3 — [Nama 3] (demo langsung; slide ini cadangan bila demo bermasalah) Terima kasih, [Nama 2]. Sekarang saya akan menunjukkan programnya. [Buka terminal, ketik: python3 MMAIKelompokX.py] Untuk menjalankan, cukup ketik perintah ini. Lalu jendela program akan muncul. [Tunjuk bagian atas jendela] Di bagian atas ada pilihan simpul awal, simpul akhir, dan algoritma. Sekarang awalnya V1, dan tujuannya V15. [Tunjuk gambar graf] Di tengah adalah graf kita. Lingkaran hijau adalah titik awal. Lingkaran merah adalah tujuan. [Pilih Dijkstra, tekan tombol Animasikan] Saya pilih Dijkstra, lalu tekan Animasikan. Perhatikan warnanya. Oranye berarti simpul sedang diproses. Kuning berarti masih menunggu. Biru muda berarti sudah selesai.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3 — [Nama 3] [Tunggu sampai animasi selesai] Nah, sudah selesai. Garis ungu adalah jalur terpendeknya: V1, V2, V5, V9, V12, lalu V15. Bobot minimumnya 505, sama dengan contoh di soal. Waktunya bisa dilihat di panel kanan. [Pilih A-Star, tekan tombol Hasil langsung] Sekarang saya coba A-Star. Hasilnya sama: jalurnya sama, bobotnya juga 505. [Klik tombol Bandingkan Dijkstra vs A-Star] Terakhir, tombol Bandingkan menampilkan hasil kedua algoritma dalam satu tabel. Untuk analisis hasilnya, saya serahkan kepada [Nama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Terima kasih, [Nama 3]. Saya akan menyampaikan analisis hasil, kesimpulan, dan saran pengembangan. Pada input A, kedua algoritma menghasilkan jalur yang sama, yaitu V1, V2, V5, V9, V12, hingga V15, dengan bobot 505. Hasil ini sesuai contoh di soal, dan membuktikan heuristik kami tidak merusak ketepatan hasil. Perbedaannya ada pada proses. Dijkstra memperluas 12 dari 15 simpul, dengan 16 kali relaksasi. A-Star hanya memperluas 7 simpul, dengan 9 kali relaksasi. Simpul V3, V6, V7, V8, dan V10 tidak disentuh A-Star, karena heuristik mengarahkannya langsung ke V15. Namun ada temuan menarik. Dari sisi waktu, A-Star justru sekitar dua kali lebih lambat: [sebutkan angka di layar, misalnya ±9 µs untuk Dijkstra dan ±19 µs untuk A-Star]. Penyebabnya, A-Star harus menghitung heuristik untuk semua simpul terlebih dahulu. Pada graf kecil berisi 15 simpul, biaya tambahan ini lebih besar daripada penghematannya.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Program ini juga kami uji dengan input B dan C tanpa mengubah kode sedikit pun. Input B, dari V1 ke V10, menghasilkan jalur V1, V4, V6, V10 dengan bobot 400. Input C, dari B ke H, menghasilkan jalur B, C, F, E, H dengan bobot 9. Keduanya sesuai contoh di soal. (Pastikan tim sudah menjalankan input B dan C sebelum rekaman.)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Kesimpulan kami ada tiga. Pertama, Dijkstra dan A-Star sama-sama menemukan jalur optimal pada graf berbobot non-negatif. Kedua, heuristik membuat A-Star jauh lebih hemat dalam jumlah simpul yang diperiksa. Ketiga, keunggulan waktu A-Star baru terasa pada graf besar; pada graf kecil, Dijkstra yang lebih sederhana justru lebih cepat.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Untuk pengembangan, kami menyarankan empat hal. Satu, menambahkan Bellman-Ford agar program dapat menangani bobot negatif; kode kami sudah dirancang sehingga algoritma baru cukup didaftarkan di satu tempat. Dua, jika graf memiliki koordinat, misalnya peta kampus USK, heuristik jarak garis lurus akan membuat A-Star jauh lebih unggul. Tiga, menguji program pada graf berisi ribuan simpul. Empat, menambah fitur tampilan, seperti menyunting graf secara langsung dan mundur satu langkah pada animasi.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(semua anggota tampil) Demikian presentasi dari Kelompok [X]. Kami menyadari masih ada kekurangan, sehingga kritik dan saran sangat kami harapkan. Terima kasih atas perhatian Bapak/Ibu dan teman-teman sekalian. Wassalamu'alaikum warahmatullahi wabarakatuh.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0" y="1102340"/>
            <a:ext cx="10566440" cy="447020"/>
          </a:xfrm>
          <a:prstGeom prst="rect">
            <a:avLst/>
          </a:prstGeom>
          <a:noFill/>
          <a:ln/>
        </p:spPr>
        <p:txBody>
          <a:bodyPr wrap="square" lIns="0" tIns="0" rIns="0" bIns="0" rtlCol="0" anchor="t"/>
          <a:lstStyle>
            <a:lvl1pPr algn="l" indent="0" marL="0">
              <a:lnSpc>
                <a:spcPct val="115000"/>
              </a:lnSpc>
              <a:buNone/>
              <a:defRPr lang="en-US" sz="3200" dirty="0">
                <a:solidFill>
                  <a:srgbClr val="14233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80" y="1854161"/>
            <a:ext cx="10566420" cy="4191039"/>
          </a:xfrm>
          <a:prstGeom prst="rect">
            <a:avLst/>
          </a:prstGeom>
          <a:noFill/>
          <a:ln/>
        </p:spPr>
        <p:txBody>
          <a:bodyPr wrap="square" lIns="0" tIns="0" rIns="0" bIns="0" rtlCol="0" anchor="t"/>
          <a:lstStyle>
            <a:lvl1pPr algn="l" indent="0" marL="0">
              <a:lnSpc>
                <a:spcPct val="140000"/>
              </a:lnSpc>
              <a:buNone/>
              <a:defRPr lang="en-US" sz="1600" dirty="0">
                <a:solidFill>
                  <a:srgbClr val="14233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0" y="1102340"/>
            <a:ext cx="10566440" cy="447020"/>
          </a:xfrm>
          <a:prstGeom prst="rect">
            <a:avLst/>
          </a:prstGeom>
          <a:noFill/>
          <a:ln/>
        </p:spPr>
        <p:txBody>
          <a:bodyPr wrap="square" lIns="0" tIns="0" rIns="0" bIns="0" rtlCol="0" anchor="t"/>
          <a:lstStyle>
            <a:lvl1pPr algn="l" indent="0" marL="0">
              <a:lnSpc>
                <a:spcPct val="115000"/>
              </a:lnSpc>
              <a:buNone/>
              <a:defRPr lang="en-US" sz="3200" dirty="0">
                <a:solidFill>
                  <a:srgbClr val="14233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80" y="1854161"/>
            <a:ext cx="10566420" cy="4191039"/>
          </a:xfrm>
          <a:prstGeom prst="rect">
            <a:avLst/>
          </a:prstGeom>
          <a:noFill/>
          <a:ln/>
        </p:spPr>
        <p:txBody>
          <a:bodyPr wrap="square" lIns="0" tIns="0" rIns="0" bIns="0" rtlCol="0" anchor="t"/>
          <a:lstStyle>
            <a:lvl1pPr algn="l" indent="0" marL="0">
              <a:lnSpc>
                <a:spcPct val="140000"/>
              </a:lnSpc>
              <a:buNone/>
              <a:defRPr lang="en-US" sz="1600" dirty="0">
                <a:solidFill>
                  <a:srgbClr val="14233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B"/>
        </a:solidFill>
      </p:bgPr>
    </p:bg>
    <p:spTree>
      <p:nvGrpSpPr>
        <p:cNvPr id="1" name=""/>
        <p:cNvGrpSpPr/>
        <p:nvPr/>
      </p:nvGrpSpPr>
      <p:grpSpPr>
        <a:xfrm>
          <a:off x="0" y="0"/>
          <a:ext cx="0" cy="0"/>
          <a:chOff x="0" y="0"/>
          <a:chExt cx="0" cy="0"/>
        </a:xfrm>
      </p:grpSpPr>
      <p:pic>
        <p:nvPicPr>
          <p:cNvPr id="2" name="Image 0" descr="Ilustrasi graf dengan jalur terpendek berwarna ungu dari simpul hijau ke simpul merah">    </p:cNvPr>
          <p:cNvPicPr>
            <a:picLocks noChangeAspect="1"/>
          </p:cNvPicPr>
          <p:nvPr/>
        </p:nvPicPr>
        <p:blipFill>
          <a:blip r:embed="rId1"/>
          <a:srcRect l="0" r="0" t="0" b="0"/>
          <a:stretch/>
        </p:blipFill>
        <p:spPr>
          <a:xfrm>
            <a:off x="7492960" y="1015960"/>
            <a:ext cx="3810000" cy="4825960"/>
          </a:xfrm>
          <a:prstGeom prst="rect">
            <a:avLst/>
          </a:prstGeom>
        </p:spPr>
      </p:pic>
      <p:sp>
        <p:nvSpPr>
          <p:cNvPr id="3" name="Text 0"/>
          <p:cNvSpPr/>
          <p:nvPr/>
        </p:nvSpPr>
        <p:spPr>
          <a:xfrm>
            <a:off x="812780" y="1533227"/>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8892B"/>
                </a:solidFill>
                <a:latin typeface="IBM Plex Sans" pitchFamily="34" charset="0"/>
                <a:ea typeface="IBM Plex Sans" pitchFamily="34" charset="-122"/>
                <a:cs typeface="IBM Plex Sans" pitchFamily="34" charset="-120"/>
              </a:rPr>
              <a:t>TUGAS 1 · MMAI1001 KECERDASAN ARTIFICIAL</a:t>
            </a:r>
            <a:endParaRPr lang="en-US" sz="1200" dirty="0"/>
          </a:p>
        </p:txBody>
      </p:sp>
      <p:sp>
        <p:nvSpPr>
          <p:cNvPr id="4" name="Text 1"/>
          <p:cNvSpPr/>
          <p:nvPr>
            <p:ph type="title"/>
          </p:nvPr>
        </p:nvSpPr>
        <p:spPr>
          <a:xfrm>
            <a:off x="812780" y="2000548"/>
            <a:ext cx="6409670" cy="2658825"/>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5F3EE"/>
                </a:solidFill>
                <a:latin typeface="Space Grotesk" pitchFamily="34" charset="0"/>
                <a:ea typeface="Space Grotesk" pitchFamily="34" charset="-122"/>
                <a:cs typeface="Space Grotesk" pitchFamily="34" charset="-120"/>
              </a:rPr>
              <a:t>Visualisasi Pencarian Jalur Terpendek dengan </a:t>
            </a:r>
            <a:r>
              <a:rPr lang="en-US" sz="4800" b="1" i="0" dirty="0">
                <a:solidFill>
                  <a:srgbClr val="B79CF5"/>
                </a:solidFill>
                <a:latin typeface="Space Grotesk" pitchFamily="34" charset="0"/>
                <a:ea typeface="Space Grotesk" pitchFamily="34" charset="-122"/>
                <a:cs typeface="Space Grotesk" pitchFamily="34" charset="-120"/>
              </a:rPr>
              <a:t>Dijkstra dan A*</a:t>
            </a:r>
            <a:endParaRPr lang="en-US" sz="4800" dirty="0"/>
          </a:p>
        </p:txBody>
      </p:sp>
      <p:sp>
        <p:nvSpPr>
          <p:cNvPr id="5" name="Text 2"/>
          <p:cNvSpPr/>
          <p:nvPr/>
        </p:nvSpPr>
        <p:spPr>
          <a:xfrm>
            <a:off x="812780" y="4837152"/>
            <a:ext cx="6409670" cy="309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3D3"/>
                </a:solidFill>
                <a:latin typeface="IBM Plex Sans" pitchFamily="34" charset="0"/>
                <a:ea typeface="IBM Plex Sans" pitchFamily="34" charset="-122"/>
                <a:cs typeface="IBM Plex Sans" pitchFamily="34" charset="-120"/>
              </a:rPr>
              <a:t>Kelompok [X] · [Nama 1] · [Nama 2] · [Nama 3] · [Nama 4]</a:t>
            </a:r>
            <a:endParaRPr lang="en-US" sz="1600" dirty="0"/>
          </a:p>
        </p:txBody>
      </p:sp>
      <p:sp>
        <p:nvSpPr>
          <p:cNvPr id="6" name="Text 3"/>
          <p:cNvSpPr/>
          <p:nvPr/>
        </p:nvSpPr>
        <p:spPr>
          <a:xfrm>
            <a:off x="812780" y="6238280"/>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Universitas Syiah Kuala · Oktober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LATAR BELAKANG</a:t>
            </a:r>
            <a:endParaRPr lang="en-US" sz="1200" dirty="0"/>
          </a:p>
        </p:txBody>
      </p:sp>
      <p:sp>
        <p:nvSpPr>
          <p:cNvPr id="3" name="Text 1"/>
          <p:cNvSpPr/>
          <p:nvPr>
            <p:ph type="title"/>
          </p:nvPr>
        </p:nvSpPr>
        <p:spPr>
          <a:xfrm>
            <a:off x="812780" y="1102340"/>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Mencari rute dengan total bobot terkecil</a:t>
            </a:r>
            <a:endParaRPr lang="en-US" sz="3200" dirty="0"/>
          </a:p>
        </p:txBody>
      </p:sp>
      <p:sp>
        <p:nvSpPr>
          <p:cNvPr id="4" name="Text 2"/>
          <p:cNvSpPr/>
          <p:nvPr/>
        </p:nvSpPr>
        <p:spPr>
          <a:xfrm>
            <a:off x="812780" y="1854160"/>
            <a:ext cx="915668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3E4A5C"/>
                </a:solidFill>
                <a:latin typeface="IBM Plex Sans" pitchFamily="34" charset="0"/>
                <a:ea typeface="IBM Plex Sans" pitchFamily="34" charset="-122"/>
                <a:cs typeface="IBM Plex Sans" pitchFamily="34" charset="-120"/>
              </a:rPr>
              <a:t>Aplikasi peta menyelesaikan persoalan klasik setiap hari: mencari jalur antara dua titik dengan total bobot paling kecil. Persoalan ini dimodelkan dengan </a:t>
            </a:r>
            <a:r>
              <a:rPr lang="en-US" sz="1800" b="1" dirty="0">
                <a:solidFill>
                  <a:srgbClr val="3E4A5C"/>
                </a:solidFill>
                <a:latin typeface="IBM Plex Sans" pitchFamily="34" charset="0"/>
                <a:ea typeface="IBM Plex Sans" pitchFamily="34" charset="-122"/>
                <a:cs typeface="IBM Plex Sans" pitchFamily="34" charset="-120"/>
              </a:rPr>
              <a:t>graf</a:t>
            </a:r>
            <a:r>
              <a:rPr lang="en-US" sz="1800" dirty="0">
                <a:solidFill>
                  <a:srgbClr val="3E4A5C"/>
                </a:solidFill>
                <a:latin typeface="IBM Plex Sans" pitchFamily="34" charset="0"/>
                <a:ea typeface="IBM Plex Sans" pitchFamily="34" charset="-122"/>
                <a:cs typeface="IBM Plex Sans" pitchFamily="34" charset="-120"/>
              </a:rPr>
              <a:t>.</a:t>
            </a:r>
            <a:endParaRPr lang="en-US" sz="1800" dirty="0"/>
          </a:p>
        </p:txBody>
      </p:sp>
      <p:sp>
        <p:nvSpPr>
          <p:cNvPr id="5" name="Shape 3"/>
          <p:cNvSpPr/>
          <p:nvPr/>
        </p:nvSpPr>
        <p:spPr>
          <a:xfrm>
            <a:off x="815955" y="2802216"/>
            <a:ext cx="3380324" cy="2477770"/>
          </a:xfrm>
          <a:prstGeom prst="roundRect">
            <a:avLst>
              <a:gd name="adj" fmla="val 4997"/>
            </a:avLst>
          </a:prstGeom>
          <a:solidFill>
            <a:srgbClr val="FFFDF8"/>
          </a:solidFill>
          <a:ln w="6350">
            <a:solidFill>
              <a:srgbClr val="DDD8CC"/>
            </a:solidFill>
            <a:prstDash val="solid"/>
          </a:ln>
        </p:spPr>
      </p:sp>
      <p:pic>
        <p:nvPicPr>
          <p:cNvPr id="6" name="Image 0" descr="ellipse">    </p:cNvPr>
          <p:cNvPicPr>
            <a:picLocks noChangeAspect="1"/>
          </p:cNvPicPr>
          <p:nvPr/>
        </p:nvPicPr>
        <p:blipFill>
          <a:blip r:embed="rId1"/>
          <a:srcRect l="0" r="0" t="0" b="0"/>
          <a:stretch/>
        </p:blipFill>
        <p:spPr>
          <a:xfrm>
            <a:off x="1121390" y="3107651"/>
            <a:ext cx="457200" cy="457200"/>
          </a:xfrm>
          <a:prstGeom prst="rect">
            <a:avLst/>
          </a:prstGeom>
        </p:spPr>
      </p:pic>
      <p:sp>
        <p:nvSpPr>
          <p:cNvPr id="7" name="Text 4"/>
          <p:cNvSpPr/>
          <p:nvPr/>
        </p:nvSpPr>
        <p:spPr>
          <a:xfrm>
            <a:off x="1121390" y="3717251"/>
            <a:ext cx="285253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Simpul (vertex)</a:t>
            </a:r>
            <a:endParaRPr lang="en-US" sz="2000" dirty="0"/>
          </a:p>
        </p:txBody>
      </p:sp>
      <p:sp>
        <p:nvSpPr>
          <p:cNvPr id="8" name="Text 5"/>
          <p:cNvSpPr/>
          <p:nvPr/>
        </p:nvSpPr>
        <p:spPr>
          <a:xfrm>
            <a:off x="1121390" y="4174451"/>
            <a:ext cx="285253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Lokasi atau persimpangan, misalnya gedung atau kota.</a:t>
            </a:r>
            <a:endParaRPr lang="en-US" sz="1500" dirty="0"/>
          </a:p>
        </p:txBody>
      </p:sp>
      <p:sp>
        <p:nvSpPr>
          <p:cNvPr id="9" name="Shape 6"/>
          <p:cNvSpPr/>
          <p:nvPr/>
        </p:nvSpPr>
        <p:spPr>
          <a:xfrm>
            <a:off x="4405809" y="2802216"/>
            <a:ext cx="3380383" cy="2477770"/>
          </a:xfrm>
          <a:prstGeom prst="roundRect">
            <a:avLst>
              <a:gd name="adj" fmla="val 4997"/>
            </a:avLst>
          </a:prstGeom>
          <a:solidFill>
            <a:srgbClr val="FFFDF8"/>
          </a:solidFill>
          <a:ln w="6350">
            <a:solidFill>
              <a:srgbClr val="DDD8CC"/>
            </a:solidFill>
            <a:prstDash val="solid"/>
          </a:ln>
        </p:spPr>
      </p:sp>
      <p:pic>
        <p:nvPicPr>
          <p:cNvPr id="10" name="Image 1" descr="ellipse">    </p:cNvPr>
          <p:cNvPicPr>
            <a:picLocks noChangeAspect="1"/>
          </p:cNvPicPr>
          <p:nvPr/>
        </p:nvPicPr>
        <p:blipFill>
          <a:blip r:embed="rId2"/>
          <a:srcRect l="0" r="0" t="0" b="0"/>
          <a:stretch/>
        </p:blipFill>
        <p:spPr>
          <a:xfrm>
            <a:off x="4711244" y="3196531"/>
            <a:ext cx="279380" cy="279380"/>
          </a:xfrm>
          <a:prstGeom prst="rect">
            <a:avLst/>
          </a:prstGeom>
        </p:spPr>
      </p:pic>
      <p:pic>
        <p:nvPicPr>
          <p:cNvPr id="11" name="Image 2" descr="line">    </p:cNvPr>
          <p:cNvPicPr>
            <a:picLocks noChangeAspect="1"/>
          </p:cNvPicPr>
          <p:nvPr/>
        </p:nvPicPr>
        <p:blipFill>
          <a:blip r:embed="rId3"/>
          <a:srcRect l="0" r="0" t="-1" b="-1"/>
          <a:stretch/>
        </p:blipFill>
        <p:spPr>
          <a:xfrm>
            <a:off x="4990624" y="3317201"/>
            <a:ext cx="888980" cy="38100"/>
          </a:xfrm>
          <a:prstGeom prst="rect">
            <a:avLst/>
          </a:prstGeom>
        </p:spPr>
      </p:pic>
      <p:pic>
        <p:nvPicPr>
          <p:cNvPr id="12" name="Image 3" descr="ellipse">    </p:cNvPr>
          <p:cNvPicPr>
            <a:picLocks noChangeAspect="1"/>
          </p:cNvPicPr>
          <p:nvPr/>
        </p:nvPicPr>
        <p:blipFill>
          <a:blip r:embed="rId4"/>
          <a:srcRect l="0" r="0" t="0" b="0"/>
          <a:stretch/>
        </p:blipFill>
        <p:spPr>
          <a:xfrm>
            <a:off x="5879604" y="3196531"/>
            <a:ext cx="279380" cy="279380"/>
          </a:xfrm>
          <a:prstGeom prst="rect">
            <a:avLst/>
          </a:prstGeom>
        </p:spPr>
      </p:pic>
      <p:sp>
        <p:nvSpPr>
          <p:cNvPr id="13" name="Text 7"/>
          <p:cNvSpPr/>
          <p:nvPr/>
        </p:nvSpPr>
        <p:spPr>
          <a:xfrm>
            <a:off x="4711244" y="3717251"/>
            <a:ext cx="285259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Sisi (edge)</a:t>
            </a:r>
            <a:endParaRPr lang="en-US" sz="2000" dirty="0"/>
          </a:p>
        </p:txBody>
      </p:sp>
      <p:sp>
        <p:nvSpPr>
          <p:cNvPr id="14" name="Text 8"/>
          <p:cNvSpPr/>
          <p:nvPr/>
        </p:nvSpPr>
        <p:spPr>
          <a:xfrm>
            <a:off x="4711244" y="4174451"/>
            <a:ext cx="285259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Jalan yang menghubungkan dua simpul, berarah atau tidak berarah.</a:t>
            </a:r>
            <a:endParaRPr lang="en-US" sz="1500" dirty="0"/>
          </a:p>
        </p:txBody>
      </p:sp>
      <p:sp>
        <p:nvSpPr>
          <p:cNvPr id="15" name="Shape 9"/>
          <p:cNvSpPr/>
          <p:nvPr/>
        </p:nvSpPr>
        <p:spPr>
          <a:xfrm>
            <a:off x="7995722" y="2802216"/>
            <a:ext cx="3380324" cy="2477770"/>
          </a:xfrm>
          <a:prstGeom prst="roundRect">
            <a:avLst>
              <a:gd name="adj" fmla="val 4997"/>
            </a:avLst>
          </a:prstGeom>
          <a:solidFill>
            <a:srgbClr val="FFFDF8"/>
          </a:solidFill>
          <a:ln w="6350">
            <a:solidFill>
              <a:srgbClr val="DDD8CC"/>
            </a:solidFill>
            <a:prstDash val="solid"/>
          </a:ln>
        </p:spPr>
      </p:sp>
      <p:sp>
        <p:nvSpPr>
          <p:cNvPr id="16" name="Text 10"/>
          <p:cNvSpPr/>
          <p:nvPr/>
        </p:nvSpPr>
        <p:spPr>
          <a:xfrm>
            <a:off x="8301157" y="3133011"/>
            <a:ext cx="877824" cy="43182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6D35D6"/>
                </a:solidFill>
                <a:latin typeface="JetBrains Mono" pitchFamily="49" charset="0"/>
                <a:ea typeface="JetBrains Mono" pitchFamily="49" charset="-122"/>
                <a:cs typeface="JetBrains Mono" pitchFamily="49" charset="-120"/>
              </a:rPr>
              <a:t>120</a:t>
            </a:r>
            <a:endParaRPr lang="en-US" sz="3200" dirty="0"/>
          </a:p>
        </p:txBody>
      </p:sp>
      <p:sp>
        <p:nvSpPr>
          <p:cNvPr id="17" name="Text 11"/>
          <p:cNvSpPr/>
          <p:nvPr/>
        </p:nvSpPr>
        <p:spPr>
          <a:xfrm>
            <a:off x="8301157" y="3717251"/>
            <a:ext cx="285253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Bobot (weight)</a:t>
            </a:r>
            <a:endParaRPr lang="en-US" sz="2000" dirty="0"/>
          </a:p>
        </p:txBody>
      </p:sp>
      <p:sp>
        <p:nvSpPr>
          <p:cNvPr id="18" name="Text 12"/>
          <p:cNvSpPr/>
          <p:nvPr/>
        </p:nvSpPr>
        <p:spPr>
          <a:xfrm>
            <a:off x="8301157" y="4174451"/>
            <a:ext cx="285253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Angka pada sisi: jarak, waktu tempuh, atau biaya.</a:t>
            </a:r>
            <a:endParaRPr lang="en-US" sz="1500" dirty="0"/>
          </a:p>
        </p:txBody>
      </p:sp>
      <p:sp>
        <p:nvSpPr>
          <p:cNvPr id="19" name="Text 13"/>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20" name="Text 14"/>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TUJUAN TUGAS</a:t>
            </a:r>
            <a:endParaRPr lang="en-US" sz="1200" dirty="0"/>
          </a:p>
        </p:txBody>
      </p:sp>
      <p:sp>
        <p:nvSpPr>
          <p:cNvPr id="3" name="Text 1"/>
          <p:cNvSpPr/>
          <p:nvPr>
            <p:ph type="title"/>
          </p:nvPr>
        </p:nvSpPr>
        <p:spPr>
          <a:xfrm>
            <a:off x="812780" y="1102340"/>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Tiga hal yang harus dihasilkan program</a:t>
            </a:r>
            <a:endParaRPr lang="en-US" sz="3200" dirty="0"/>
          </a:p>
        </p:txBody>
      </p:sp>
      <p:sp>
        <p:nvSpPr>
          <p:cNvPr id="4" name="Shape 2"/>
          <p:cNvSpPr/>
          <p:nvPr/>
        </p:nvSpPr>
        <p:spPr>
          <a:xfrm>
            <a:off x="812780" y="1860511"/>
            <a:ext cx="10566440" cy="0"/>
          </a:xfrm>
          <a:prstGeom prst="line">
            <a:avLst/>
          </a:prstGeom>
          <a:noFill/>
          <a:ln w="12700">
            <a:solidFill>
              <a:srgbClr val="DDD8CC"/>
            </a:solidFill>
            <a:prstDash val="solid"/>
          </a:ln>
        </p:spPr>
      </p:sp>
      <p:sp>
        <p:nvSpPr>
          <p:cNvPr id="5" name="Text 3"/>
          <p:cNvSpPr/>
          <p:nvPr/>
        </p:nvSpPr>
        <p:spPr>
          <a:xfrm>
            <a:off x="812780" y="2176701"/>
            <a:ext cx="87626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6D35D6"/>
                </a:solidFill>
                <a:latin typeface="Space Grotesk" pitchFamily="34" charset="0"/>
                <a:ea typeface="Space Grotesk" pitchFamily="34" charset="-122"/>
                <a:cs typeface="Space Grotesk" pitchFamily="34" charset="-120"/>
              </a:rPr>
              <a:t>01</a:t>
            </a:r>
            <a:endParaRPr lang="en-US" sz="3600" dirty="0"/>
          </a:p>
        </p:txBody>
      </p:sp>
      <p:sp>
        <p:nvSpPr>
          <p:cNvPr id="6" name="Text 4"/>
          <p:cNvSpPr/>
          <p:nvPr/>
        </p:nvSpPr>
        <p:spPr>
          <a:xfrm>
            <a:off x="1943041" y="2094192"/>
            <a:ext cx="934418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Membaca graf dan menghitung hasil</a:t>
            </a:r>
            <a:endParaRPr lang="en-US" sz="2000" dirty="0"/>
          </a:p>
        </p:txBody>
      </p:sp>
      <p:sp>
        <p:nvSpPr>
          <p:cNvPr id="7" name="Text 5"/>
          <p:cNvSpPr/>
          <p:nvPr/>
        </p:nvSpPr>
        <p:spPr>
          <a:xfrm>
            <a:off x="1943041" y="2449771"/>
            <a:ext cx="943618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Program Python membaca graf.txt, lalu menampilkan jalur terpendek, bobot minimum, dan waktu running.</a:t>
            </a:r>
            <a:endParaRPr lang="en-US" sz="1500" dirty="0"/>
          </a:p>
        </p:txBody>
      </p:sp>
      <p:sp>
        <p:nvSpPr>
          <p:cNvPr id="8" name="Shape 6"/>
          <p:cNvSpPr/>
          <p:nvPr/>
        </p:nvSpPr>
        <p:spPr>
          <a:xfrm>
            <a:off x="812780" y="2951421"/>
            <a:ext cx="10566440" cy="0"/>
          </a:xfrm>
          <a:prstGeom prst="line">
            <a:avLst/>
          </a:prstGeom>
          <a:noFill/>
          <a:ln w="12700">
            <a:solidFill>
              <a:srgbClr val="DDD8CC"/>
            </a:solidFill>
            <a:prstDash val="solid"/>
          </a:ln>
        </p:spPr>
      </p:sp>
      <p:sp>
        <p:nvSpPr>
          <p:cNvPr id="9" name="Text 7"/>
          <p:cNvSpPr/>
          <p:nvPr/>
        </p:nvSpPr>
        <p:spPr>
          <a:xfrm>
            <a:off x="812780" y="3267611"/>
            <a:ext cx="87626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6D35D6"/>
                </a:solidFill>
                <a:latin typeface="Space Grotesk" pitchFamily="34" charset="0"/>
                <a:ea typeface="Space Grotesk" pitchFamily="34" charset="-122"/>
                <a:cs typeface="Space Grotesk" pitchFamily="34" charset="-120"/>
              </a:rPr>
              <a:t>02</a:t>
            </a:r>
            <a:endParaRPr lang="en-US" sz="3600" dirty="0"/>
          </a:p>
        </p:txBody>
      </p:sp>
      <p:sp>
        <p:nvSpPr>
          <p:cNvPr id="10" name="Text 8"/>
          <p:cNvSpPr/>
          <p:nvPr/>
        </p:nvSpPr>
        <p:spPr>
          <a:xfrm>
            <a:off x="1943041" y="3185102"/>
            <a:ext cx="754035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Dua algoritma, lalu dibandingkan</a:t>
            </a:r>
            <a:endParaRPr lang="en-US" sz="2000" dirty="0"/>
          </a:p>
        </p:txBody>
      </p:sp>
      <p:sp>
        <p:nvSpPr>
          <p:cNvPr id="11" name="Text 9"/>
          <p:cNvSpPr/>
          <p:nvPr/>
        </p:nvSpPr>
        <p:spPr>
          <a:xfrm>
            <a:off x="1943041" y="3540682"/>
            <a:ext cx="8784884"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Menerapkan dua algoritma shortest path yang berbeda dan membandingkan hasilnya.</a:t>
            </a:r>
            <a:endParaRPr lang="en-US" sz="1500" dirty="0"/>
          </a:p>
        </p:txBody>
      </p:sp>
      <p:sp>
        <p:nvSpPr>
          <p:cNvPr id="12" name="Shape 10"/>
          <p:cNvSpPr/>
          <p:nvPr/>
        </p:nvSpPr>
        <p:spPr>
          <a:xfrm>
            <a:off x="812780" y="4042332"/>
            <a:ext cx="10566440" cy="0"/>
          </a:xfrm>
          <a:prstGeom prst="line">
            <a:avLst/>
          </a:prstGeom>
          <a:noFill/>
          <a:ln w="12700">
            <a:solidFill>
              <a:srgbClr val="DDD8CC"/>
            </a:solidFill>
            <a:prstDash val="solid"/>
          </a:ln>
        </p:spPr>
      </p:sp>
      <p:sp>
        <p:nvSpPr>
          <p:cNvPr id="13" name="Shape 11"/>
          <p:cNvSpPr/>
          <p:nvPr/>
        </p:nvSpPr>
        <p:spPr>
          <a:xfrm>
            <a:off x="812780" y="5131972"/>
            <a:ext cx="10566440" cy="0"/>
          </a:xfrm>
          <a:prstGeom prst="line">
            <a:avLst/>
          </a:prstGeom>
          <a:noFill/>
          <a:ln w="12700">
            <a:solidFill>
              <a:srgbClr val="DDD8CC"/>
            </a:solidFill>
            <a:prstDash val="solid"/>
          </a:ln>
        </p:spPr>
      </p:sp>
      <p:sp>
        <p:nvSpPr>
          <p:cNvPr id="14" name="Text 12"/>
          <p:cNvSpPr/>
          <p:nvPr/>
        </p:nvSpPr>
        <p:spPr>
          <a:xfrm>
            <a:off x="812780" y="4358522"/>
            <a:ext cx="87626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6D35D6"/>
                </a:solidFill>
                <a:latin typeface="Space Grotesk" pitchFamily="34" charset="0"/>
                <a:ea typeface="Space Grotesk" pitchFamily="34" charset="-122"/>
                <a:cs typeface="Space Grotesk" pitchFamily="34" charset="-120"/>
              </a:rPr>
              <a:t>03</a:t>
            </a:r>
            <a:endParaRPr lang="en-US" sz="3600" dirty="0"/>
          </a:p>
        </p:txBody>
      </p:sp>
      <p:sp>
        <p:nvSpPr>
          <p:cNvPr id="15" name="Text 13"/>
          <p:cNvSpPr/>
          <p:nvPr/>
        </p:nvSpPr>
        <p:spPr>
          <a:xfrm>
            <a:off x="1943041" y="4276012"/>
            <a:ext cx="70947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Proses pencarian yang terlihat</a:t>
            </a:r>
            <a:endParaRPr lang="en-US" sz="2000" dirty="0"/>
          </a:p>
        </p:txBody>
      </p:sp>
      <p:sp>
        <p:nvSpPr>
          <p:cNvPr id="16" name="Text 14"/>
          <p:cNvSpPr/>
          <p:nvPr/>
        </p:nvSpPr>
        <p:spPr>
          <a:xfrm>
            <a:off x="1943041" y="4631592"/>
            <a:ext cx="8265748"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Antarmuka grafis (GUI) menampilkan proses pencarian secara dinamis dan jelas.</a:t>
            </a:r>
            <a:endParaRPr lang="en-US" sz="1500" dirty="0"/>
          </a:p>
        </p:txBody>
      </p:sp>
      <p:sp>
        <p:nvSpPr>
          <p:cNvPr id="17" name="Text 15"/>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18" name="Text 16"/>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0"/>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INPUT</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Isi graf.txt: daftar tetangga dan bobotnya</a:t>
            </a:r>
            <a:endParaRPr lang="en-US" sz="3200" dirty="0"/>
          </a:p>
        </p:txBody>
      </p:sp>
      <p:sp>
        <p:nvSpPr>
          <p:cNvPr id="4" name="Text 2"/>
          <p:cNvSpPr/>
          <p:nvPr/>
        </p:nvSpPr>
        <p:spPr>
          <a:xfrm>
            <a:off x="812780" y="1854160"/>
            <a:ext cx="5460980" cy="2810708"/>
          </a:xfrm>
          <a:prstGeom prst="roundRect">
            <a:avLst>
              <a:gd name="adj" fmla="val 4518"/>
            </a:avLst>
          </a:prstGeom>
          <a:solidFill>
            <a:srgbClr val="14233B"/>
          </a:solidFill>
          <a:ln/>
        </p:spPr>
        <p:txBody>
          <a:bodyPr wrap="square" lIns="216763" tIns="216803" rIns="68171" bIns="191324" rtlCol="0" anchor="t">
            <a:normAutofit/>
          </a:bodyPr>
          <a:lstStyle/>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graph = {</a:t>
            </a:r>
            <a:endParaRPr lang="en-US" sz="1300" dirty="0"/>
          </a:p>
          <a:p>
            <a:pPr algn="l" indent="0" marL="0">
              <a:lnSpc>
                <a:spcPts val="2015"/>
              </a:lnSpc>
              <a:buNone/>
            </a:pPr>
            <a:r>
              <a:rPr lang="en-US" sz="1300" dirty="0">
                <a:solidFill>
                  <a:srgbClr val="C9B5FA"/>
                </a:solidFill>
                <a:latin typeface="JetBrains Mono" pitchFamily="49" charset="0"/>
                <a:ea typeface="JetBrains Mono" pitchFamily="49" charset="-122"/>
                <a:cs typeface="JetBrains Mono" pitchFamily="49" charset="-120"/>
              </a:rPr>
              <a:t>'V1': {'V2': 120, 'V4': 200},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'V2': {'V1': 120, 'V3': 150, 'V5': 90},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'V3': {'V2': 150, 'V6': 80, 'V7': 110},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'V14': {'V8': 180, 'V15': 210},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'V15': {'V12': 90, 'V14': 210}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2A65A"/>
                </a:solidFill>
                <a:latin typeface="JetBrains Mono" pitchFamily="49" charset="0"/>
                <a:ea typeface="JetBrains Mono" pitchFamily="49" charset="-122"/>
                <a:cs typeface="JetBrains Mono" pitchFamily="49" charset="-120"/>
              </a:rPr>
              <a:t>V1 V15</a:t>
            </a:r>
            <a:endParaRPr lang="en-US" sz="1300" dirty="0"/>
          </a:p>
        </p:txBody>
      </p:sp>
      <p:sp>
        <p:nvSpPr>
          <p:cNvPr id="5" name="Text 3"/>
          <p:cNvSpPr/>
          <p:nvPr/>
        </p:nvSpPr>
        <p:spPr>
          <a:xfrm>
            <a:off x="6680121" y="1854160"/>
            <a:ext cx="48400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SATU BARIS = SATU SIMPUL</a:t>
            </a:r>
            <a:endParaRPr lang="en-US" sz="1200" dirty="0"/>
          </a:p>
        </p:txBody>
      </p:sp>
      <p:sp>
        <p:nvSpPr>
          <p:cNvPr id="6" name="Text 4"/>
          <p:cNvSpPr/>
          <p:nvPr/>
        </p:nvSpPr>
        <p:spPr>
          <a:xfrm>
            <a:off x="6680121" y="2118300"/>
            <a:ext cx="484007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V1 terhubung ke V2 dengan bobot 120, dan ke V4 dengan bobot 200.</a:t>
            </a:r>
            <a:endParaRPr lang="en-US" sz="1500" dirty="0"/>
          </a:p>
        </p:txBody>
      </p:sp>
      <p:sp>
        <p:nvSpPr>
          <p:cNvPr id="7" name="Text 5"/>
          <p:cNvSpPr/>
          <p:nvPr/>
        </p:nvSpPr>
        <p:spPr>
          <a:xfrm>
            <a:off x="6680121" y="2905660"/>
            <a:ext cx="48400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0E"/>
                </a:solidFill>
                <a:latin typeface="IBM Plex Sans" pitchFamily="34" charset="0"/>
                <a:ea typeface="IBM Plex Sans" pitchFamily="34" charset="-122"/>
                <a:cs typeface="IBM Plex Sans" pitchFamily="34" charset="-120"/>
              </a:rPr>
              <a:t>BARIS TERAKHIR</a:t>
            </a:r>
            <a:endParaRPr lang="en-US" sz="1200" dirty="0"/>
          </a:p>
        </p:txBody>
      </p:sp>
      <p:sp>
        <p:nvSpPr>
          <p:cNvPr id="8" name="Text 6"/>
          <p:cNvSpPr/>
          <p:nvPr/>
        </p:nvSpPr>
        <p:spPr>
          <a:xfrm>
            <a:off x="6680121" y="3169800"/>
            <a:ext cx="484007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Simpul awal V1 dan simpul akhir V15, dipisah spasi.</a:t>
            </a:r>
            <a:endParaRPr lang="en-US" sz="1500" dirty="0"/>
          </a:p>
        </p:txBody>
      </p:sp>
      <p:sp>
        <p:nvSpPr>
          <p:cNvPr id="9" name="Shape 7"/>
          <p:cNvSpPr/>
          <p:nvPr/>
        </p:nvSpPr>
        <p:spPr>
          <a:xfrm>
            <a:off x="6680121" y="3696810"/>
            <a:ext cx="4699099" cy="0"/>
          </a:xfrm>
          <a:prstGeom prst="line">
            <a:avLst/>
          </a:prstGeom>
          <a:noFill/>
          <a:ln w="12700">
            <a:solidFill>
              <a:srgbClr val="DDD8CC"/>
            </a:solidFill>
            <a:prstDash val="solid"/>
          </a:ln>
        </p:spPr>
      </p:sp>
      <p:sp>
        <p:nvSpPr>
          <p:cNvPr id="10" name="Text 8"/>
          <p:cNvSpPr/>
          <p:nvPr/>
        </p:nvSpPr>
        <p:spPr>
          <a:xfrm>
            <a:off x="6680121" y="3905070"/>
            <a:ext cx="4840072"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14233B"/>
                </a:solidFill>
                <a:latin typeface="Space Grotesk" pitchFamily="34" charset="0"/>
                <a:ea typeface="Space Grotesk" pitchFamily="34" charset="-122"/>
                <a:cs typeface="Space Grotesk" pitchFamily="34" charset="-120"/>
              </a:rPr>
              <a:t>15 simpul · 18 sisi</a:t>
            </a:r>
            <a:endParaRPr lang="en-US" sz="2800" dirty="0"/>
          </a:p>
        </p:txBody>
      </p:sp>
      <p:sp>
        <p:nvSpPr>
          <p:cNvPr id="11" name="Text 9"/>
          <p:cNvSpPr/>
          <p:nvPr/>
        </p:nvSpPr>
        <p:spPr>
          <a:xfrm>
            <a:off x="6680121" y="4346972"/>
            <a:ext cx="484007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Input A dari soal</a:t>
            </a:r>
            <a:endParaRPr lang="en-US" sz="1200" dirty="0"/>
          </a:p>
        </p:txBody>
      </p:sp>
      <p:sp>
        <p:nvSpPr>
          <p:cNvPr id="12" name="Text 10"/>
          <p:cNvSpPr/>
          <p:nvPr/>
        </p:nvSpPr>
        <p:spPr>
          <a:xfrm>
            <a:off x="812780" y="6235779"/>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13" name="Text 11"/>
          <p:cNvSpPr/>
          <p:nvPr/>
        </p:nvSpPr>
        <p:spPr>
          <a:xfrm>
            <a:off x="11145541" y="6235779"/>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PILIHAN ALGORITMA</a:t>
            </a:r>
            <a:endParaRPr lang="en-US" sz="1200" dirty="0"/>
          </a:p>
        </p:txBody>
      </p:sp>
      <p:sp>
        <p:nvSpPr>
          <p:cNvPr id="3" name="Text 1"/>
          <p:cNvSpPr/>
          <p:nvPr>
            <p:ph type="title"/>
          </p:nvPr>
        </p:nvSpPr>
        <p:spPr>
          <a:xfrm>
            <a:off x="812780" y="1102342"/>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Dijkstra dan A* paling tepat untuk graf ini</a:t>
            </a:r>
            <a:endParaRPr lang="en-US" sz="3200" dirty="0"/>
          </a:p>
        </p:txBody>
      </p:sp>
      <p:sp>
        <p:nvSpPr>
          <p:cNvPr id="4" name="Shape 2"/>
          <p:cNvSpPr/>
          <p:nvPr/>
        </p:nvSpPr>
        <p:spPr>
          <a:xfrm>
            <a:off x="812780" y="1854163"/>
            <a:ext cx="10566381" cy="2685693"/>
          </a:xfrm>
          <a:prstGeom prst="roundRect">
            <a:avLst>
              <a:gd name="adj" fmla="val 3783"/>
            </a:avLst>
          </a:prstGeom>
          <a:solidFill>
            <a:srgbClr val="FFFDF8"/>
          </a:solidFill>
          <a:ln/>
        </p:spPr>
      </p:sp>
      <p:sp>
        <p:nvSpPr>
          <p:cNvPr id="5" name="Shape 3"/>
          <p:cNvSpPr/>
          <p:nvPr/>
        </p:nvSpPr>
        <p:spPr>
          <a:xfrm>
            <a:off x="812780" y="1854163"/>
            <a:ext cx="10566381" cy="2685693"/>
          </a:xfrm>
          <a:custGeom>
            <a:avLst/>
            <a:gdLst/>
            <a:ahLst/>
            <a:cxnLst/>
            <a:rect l="l" t="t" r="r" b="b"/>
            <a:pathLst>
              <a:path w="10566381" h="2685693">
                <a:moveTo>
                  <a:pt x="10464781" y="0"/>
                </a:moveTo>
                <a:lnTo>
                  <a:pt x="10464781" y="0"/>
                </a:lnTo>
                <a:arcTo hR="101600" wR="101600" stAng="16200000" swAng="5400000"/>
                <a:lnTo>
                  <a:pt x="10566381" y="2584093"/>
                </a:lnTo>
                <a:arcTo hR="101600" wR="101600" stAng="0" swAng="5400000"/>
                <a:lnTo>
                  <a:pt x="101600" y="2685693"/>
                </a:lnTo>
                <a:arcTo hR="101600" wR="101600" stAng="5400000" swAng="5400000"/>
                <a:lnTo>
                  <a:pt x="0" y="2584093"/>
                </a:lnTo>
                <a:arcTo hR="95250" wR="101600" stAng="10800000" swAng="-5400000"/>
                <a:lnTo>
                  <a:pt x="10464781" y="2679343"/>
                </a:lnTo>
                <a:arcTo hR="95250" wR="95250" stAng="5400000" swAng="-5400000"/>
                <a:lnTo>
                  <a:pt x="10560031" y="101600"/>
                </a:lnTo>
                <a:arcTo hR="101600" wR="95250" stAng="0" swAng="-5400000"/>
                <a:close/>
              </a:path>
            </a:pathLst>
          </a:custGeom>
          <a:solidFill>
            <a:srgbClr val="DDD8CC"/>
          </a:solidFill>
          <a:ln/>
        </p:spPr>
      </p:sp>
      <p:sp>
        <p:nvSpPr>
          <p:cNvPr id="6" name="Shape 4"/>
          <p:cNvSpPr/>
          <p:nvPr/>
        </p:nvSpPr>
        <p:spPr>
          <a:xfrm>
            <a:off x="812780" y="1854163"/>
            <a:ext cx="10566381" cy="2685693"/>
          </a:xfrm>
          <a:custGeom>
            <a:avLst/>
            <a:gdLst/>
            <a:ahLst/>
            <a:cxnLst/>
            <a:rect l="l" t="t" r="r" b="b"/>
            <a:pathLst>
              <a:path w="10566381" h="2685693">
                <a:moveTo>
                  <a:pt x="101600" y="2685693"/>
                </a:moveTo>
                <a:lnTo>
                  <a:pt x="101600" y="2685693"/>
                </a:lnTo>
                <a:arcTo hR="101600" wR="101600" stAng="5400000" swAng="5400000"/>
                <a:lnTo>
                  <a:pt x="0" y="101600"/>
                </a:lnTo>
                <a:arcTo hR="101600" wR="101600" stAng="10800000" swAng="5400000"/>
                <a:lnTo>
                  <a:pt x="10464781" y="0"/>
                </a:lnTo>
                <a:arcTo hR="101600" wR="101600" stAng="16200000" swAng="5400000"/>
                <a:lnTo>
                  <a:pt x="10566381" y="101600"/>
                </a:lnTo>
                <a:arcTo hR="90170" wR="101600" stAng="0" swAng="-5400000"/>
                <a:lnTo>
                  <a:pt x="101600" y="11430"/>
                </a:lnTo>
                <a:arcTo hR="90170" wR="90170" stAng="16200000" swAng="-5400000"/>
                <a:lnTo>
                  <a:pt x="11430" y="2584093"/>
                </a:lnTo>
                <a:arcTo hR="101600" wR="90170" stAng="10800000" swAng="-5400000"/>
                <a:close/>
              </a:path>
            </a:pathLst>
          </a:custGeom>
          <a:solidFill>
            <a:srgbClr val="141413">
              <a:alpha val="22000"/>
            </a:srgbClr>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210" y="1865593"/>
          <a:ext cx="10551141" cy="2670453"/>
        </p:xfrm>
        <a:graphic>
          <a:graphicData uri="http://schemas.openxmlformats.org/drawingml/2006/table">
            <a:tbl>
              <a:tblPr/>
              <a:tblGrid>
                <a:gridCol w="2110228"/>
                <a:gridCol w="3165342"/>
                <a:gridCol w="3587388"/>
                <a:gridCol w="1688182"/>
              </a:tblGrid>
              <a:tr h="384750">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Algoritma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Ciri utama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Untuk graf soal ini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Keputusan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Dijkstra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Greedy; optimal untuk bobot non-negatif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Semua bobot positif, satu awal ke satu tujuan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6D35D6"/>
                          </a:solidFill>
                          <a:latin typeface="IBM Plex Sans" pitchFamily="34" charset="0"/>
                          <a:ea typeface="IBM Plex Sans" pitchFamily="34" charset="-122"/>
                          <a:cs typeface="IBM Plex Sans" pitchFamily="34" charset="-120"/>
                        </a:rPr>
                        <a:t>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Dijkstra + heuristik, pencarian terarah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Inti materi pencarian cerdas di mata kuliah 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6D35D6"/>
                          </a:solidFill>
                          <a:latin typeface="IBM Plex Sans" pitchFamily="34" charset="0"/>
                          <a:ea typeface="IBM Plex Sans" pitchFamily="34" charset="-122"/>
                          <a:cs typeface="IBM Plex Sans" pitchFamily="34" charset="-120"/>
                        </a:rPr>
                        <a:t>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Bellman-Ford</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Menangani bobot negatif; O(V·E)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Tidak ada bobot negatif, dan lebih lambat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5F6B7A"/>
                          </a:solidFill>
                          <a:latin typeface="IBM Plex Sans" pitchFamily="34" charset="0"/>
                          <a:ea typeface="IBM Plex Sans" pitchFamily="34" charset="-122"/>
                          <a:cs typeface="IBM Plex Sans" pitchFamily="34" charset="-120"/>
                        </a:rPr>
                        <a:t>Tidak 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Floyd-Warshall</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Semua pasangan simpul; O(V³)</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Berlebihan, kita hanya mencari satu pasangan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5F6B7A"/>
                          </a:solidFill>
                          <a:latin typeface="IBM Plex Sans" pitchFamily="34" charset="0"/>
                          <a:ea typeface="IBM Plex Sans" pitchFamily="34" charset="-122"/>
                          <a:cs typeface="IBM Plex Sans" pitchFamily="34" charset="-120"/>
                        </a:rPr>
                        <a:t>Tidak 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8" name="Text 5"/>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9" name="Text 6"/>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STRUKTUR PROGRAM</a:t>
            </a:r>
            <a:endParaRPr lang="en-US" sz="1200" dirty="0"/>
          </a:p>
        </p:txBody>
      </p:sp>
      <p:sp>
        <p:nvSpPr>
          <p:cNvPr id="3" name="Text 1"/>
          <p:cNvSpPr/>
          <p:nvPr>
            <p:ph type="title"/>
          </p:nvPr>
        </p:nvSpPr>
        <p:spPr>
          <a:xfrm>
            <a:off x="812780" y="1102342"/>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Lima file Python, hanya pustaka bawaan</a:t>
            </a:r>
            <a:endParaRPr lang="en-US" sz="3200" dirty="0"/>
          </a:p>
        </p:txBody>
      </p:sp>
      <p:sp>
        <p:nvSpPr>
          <p:cNvPr id="4" name="Shape 2"/>
          <p:cNvSpPr/>
          <p:nvPr/>
        </p:nvSpPr>
        <p:spPr>
          <a:xfrm>
            <a:off x="819130" y="2911118"/>
            <a:ext cx="1511300" cy="883841"/>
          </a:xfrm>
          <a:prstGeom prst="roundRect">
            <a:avLst>
              <a:gd name="adj" fmla="val 10777"/>
            </a:avLst>
          </a:prstGeom>
          <a:solidFill>
            <a:srgbClr val="FFFDF8"/>
          </a:solidFill>
          <a:ln w="12700">
            <a:solidFill>
              <a:srgbClr val="A9A190"/>
            </a:solidFill>
            <a:prstDash val="dash"/>
          </a:ln>
        </p:spPr>
      </p:sp>
      <p:sp>
        <p:nvSpPr>
          <p:cNvPr id="5" name="Text 3"/>
          <p:cNvSpPr/>
          <p:nvPr/>
        </p:nvSpPr>
        <p:spPr>
          <a:xfrm>
            <a:off x="1001971" y="3093960"/>
            <a:ext cx="119641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Input</a:t>
            </a:r>
            <a:endParaRPr lang="en-US" sz="1200" dirty="0"/>
          </a:p>
        </p:txBody>
      </p:sp>
      <p:sp>
        <p:nvSpPr>
          <p:cNvPr id="6" name="Text 4"/>
          <p:cNvSpPr/>
          <p:nvPr/>
        </p:nvSpPr>
        <p:spPr>
          <a:xfrm>
            <a:off x="1001971" y="3345421"/>
            <a:ext cx="119641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33B"/>
                </a:solidFill>
                <a:latin typeface="JetBrains Mono" pitchFamily="49" charset="0"/>
                <a:ea typeface="JetBrains Mono" pitchFamily="49" charset="-122"/>
                <a:cs typeface="JetBrains Mono" pitchFamily="49" charset="-120"/>
              </a:rPr>
              <a:t>graf.txt</a:t>
            </a:r>
            <a:endParaRPr lang="en-US" sz="1500" dirty="0"/>
          </a:p>
        </p:txBody>
      </p:sp>
      <p:pic>
        <p:nvPicPr>
          <p:cNvPr id="7" name="Image 0" descr="connector">    </p:cNvPr>
          <p:cNvPicPr>
            <a:picLocks noChangeAspect="1"/>
          </p:cNvPicPr>
          <p:nvPr/>
        </p:nvPicPr>
        <p:blipFill>
          <a:blip r:embed="rId1"/>
          <a:srcRect l="-8" r="-8" t="0" b="0"/>
          <a:stretch/>
        </p:blipFill>
        <p:spPr>
          <a:xfrm>
            <a:off x="2463760" y="3289579"/>
            <a:ext cx="457200" cy="126980"/>
          </a:xfrm>
          <a:prstGeom prst="rect">
            <a:avLst/>
          </a:prstGeom>
        </p:spPr>
      </p:pic>
      <p:sp>
        <p:nvSpPr>
          <p:cNvPr id="8" name="Shape 5"/>
          <p:cNvSpPr/>
          <p:nvPr/>
        </p:nvSpPr>
        <p:spPr>
          <a:xfrm>
            <a:off x="3047941" y="2664740"/>
            <a:ext cx="2667000" cy="1376601"/>
          </a:xfrm>
          <a:prstGeom prst="roundRect">
            <a:avLst>
              <a:gd name="adj" fmla="val 7380"/>
            </a:avLst>
          </a:prstGeom>
          <a:solidFill>
            <a:srgbClr val="14233B"/>
          </a:solidFill>
          <a:ln/>
        </p:spPr>
      </p:sp>
      <p:sp>
        <p:nvSpPr>
          <p:cNvPr id="9" name="Text 6"/>
          <p:cNvSpPr/>
          <p:nvPr/>
        </p:nvSpPr>
        <p:spPr>
          <a:xfrm>
            <a:off x="3251121" y="2867918"/>
            <a:ext cx="232845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3EE"/>
                </a:solidFill>
                <a:latin typeface="JetBrains Mono" pitchFamily="49" charset="0"/>
                <a:ea typeface="JetBrains Mono" pitchFamily="49" charset="-122"/>
                <a:cs typeface="JetBrains Mono" pitchFamily="49" charset="-120"/>
              </a:rPr>
              <a:t>MMAIKelompokX.py</a:t>
            </a:r>
            <a:endParaRPr lang="en-US" sz="1500" dirty="0"/>
          </a:p>
        </p:txBody>
      </p:sp>
      <p:sp>
        <p:nvSpPr>
          <p:cNvPr id="10" name="Text 7"/>
          <p:cNvSpPr/>
          <p:nvPr/>
        </p:nvSpPr>
        <p:spPr>
          <a:xfrm>
            <a:off x="3251121" y="3198081"/>
            <a:ext cx="2328459"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File utama: memuat graf, lalu membuka GUI atau mode teks (--cli)</a:t>
            </a:r>
            <a:endParaRPr lang="en-US" sz="1200" dirty="0"/>
          </a:p>
        </p:txBody>
      </p:sp>
      <p:pic>
        <p:nvPicPr>
          <p:cNvPr id="11" name="Image 1" descr="connector">    </p:cNvPr>
          <p:cNvPicPr>
            <a:picLocks noChangeAspect="1"/>
          </p:cNvPicPr>
          <p:nvPr/>
        </p:nvPicPr>
        <p:blipFill>
          <a:blip r:embed="rId2"/>
          <a:srcRect l="-8" r="-8" t="0" b="0"/>
          <a:stretch/>
        </p:blipFill>
        <p:spPr>
          <a:xfrm>
            <a:off x="5841921" y="3289579"/>
            <a:ext cx="457200" cy="126980"/>
          </a:xfrm>
          <a:prstGeom prst="rect">
            <a:avLst/>
          </a:prstGeom>
        </p:spPr>
      </p:pic>
      <p:sp>
        <p:nvSpPr>
          <p:cNvPr id="12" name="Shape 8"/>
          <p:cNvSpPr/>
          <p:nvPr/>
        </p:nvSpPr>
        <p:spPr>
          <a:xfrm>
            <a:off x="6432451" y="1860513"/>
            <a:ext cx="4813260" cy="709771"/>
          </a:xfrm>
          <a:prstGeom prst="roundRect">
            <a:avLst>
              <a:gd name="adj" fmla="val 13420"/>
            </a:avLst>
          </a:prstGeom>
          <a:solidFill>
            <a:srgbClr val="FFFDF8"/>
          </a:solidFill>
          <a:ln w="12700">
            <a:solidFill>
              <a:srgbClr val="DDD8CC"/>
            </a:solidFill>
            <a:prstDash val="solid"/>
          </a:ln>
        </p:spPr>
      </p:sp>
      <p:sp>
        <p:nvSpPr>
          <p:cNvPr id="13" name="Text 9"/>
          <p:cNvSpPr/>
          <p:nvPr/>
        </p:nvSpPr>
        <p:spPr>
          <a:xfrm>
            <a:off x="6615292" y="2090917"/>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pembaca_graf.py</a:t>
            </a:r>
            <a:endParaRPr lang="en-US" sz="1400" dirty="0"/>
          </a:p>
        </p:txBody>
      </p:sp>
      <p:sp>
        <p:nvSpPr>
          <p:cNvPr id="14" name="Text 10"/>
          <p:cNvSpPr/>
          <p:nvPr/>
        </p:nvSpPr>
        <p:spPr>
          <a:xfrm>
            <a:off x="8609171" y="1992573"/>
            <a:ext cx="2550795" cy="47105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Membaca dan memeriksa graf.txt dengan aman</a:t>
            </a:r>
            <a:endParaRPr lang="en-US" sz="1300" dirty="0"/>
          </a:p>
        </p:txBody>
      </p:sp>
      <p:sp>
        <p:nvSpPr>
          <p:cNvPr id="15" name="Shape 11"/>
          <p:cNvSpPr/>
          <p:nvPr/>
        </p:nvSpPr>
        <p:spPr>
          <a:xfrm>
            <a:off x="6432451" y="2684543"/>
            <a:ext cx="4813260" cy="709771"/>
          </a:xfrm>
          <a:prstGeom prst="roundRect">
            <a:avLst>
              <a:gd name="adj" fmla="val 13420"/>
            </a:avLst>
          </a:prstGeom>
          <a:solidFill>
            <a:srgbClr val="FFFDF8"/>
          </a:solidFill>
          <a:ln w="12700">
            <a:solidFill>
              <a:srgbClr val="DDD8CC"/>
            </a:solidFill>
            <a:prstDash val="solid"/>
          </a:ln>
        </p:spPr>
      </p:sp>
      <p:sp>
        <p:nvSpPr>
          <p:cNvPr id="16" name="Text 12"/>
          <p:cNvSpPr/>
          <p:nvPr/>
        </p:nvSpPr>
        <p:spPr>
          <a:xfrm>
            <a:off x="6615292" y="2914948"/>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algoritma.py</a:t>
            </a:r>
            <a:endParaRPr lang="en-US" sz="1400" dirty="0"/>
          </a:p>
        </p:txBody>
      </p:sp>
      <p:sp>
        <p:nvSpPr>
          <p:cNvPr id="17" name="Text 13"/>
          <p:cNvSpPr/>
          <p:nvPr/>
        </p:nvSpPr>
        <p:spPr>
          <a:xfrm>
            <a:off x="8609171" y="2816603"/>
            <a:ext cx="2550795" cy="47105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Dijkstra, A*, dan pengukuran waktu</a:t>
            </a:r>
            <a:endParaRPr lang="en-US" sz="1300" dirty="0"/>
          </a:p>
        </p:txBody>
      </p:sp>
      <p:sp>
        <p:nvSpPr>
          <p:cNvPr id="18" name="Shape 14"/>
          <p:cNvSpPr/>
          <p:nvPr/>
        </p:nvSpPr>
        <p:spPr>
          <a:xfrm>
            <a:off x="6432451" y="3508573"/>
            <a:ext cx="4813260" cy="513020"/>
          </a:xfrm>
          <a:prstGeom prst="roundRect">
            <a:avLst>
              <a:gd name="adj" fmla="val 18567"/>
            </a:avLst>
          </a:prstGeom>
          <a:solidFill>
            <a:srgbClr val="FFFDF8"/>
          </a:solidFill>
          <a:ln w="12700">
            <a:solidFill>
              <a:srgbClr val="DDD8CC"/>
            </a:solidFill>
            <a:prstDash val="solid"/>
          </a:ln>
        </p:spPr>
      </p:sp>
      <p:sp>
        <p:nvSpPr>
          <p:cNvPr id="19" name="Text 15"/>
          <p:cNvSpPr/>
          <p:nvPr/>
        </p:nvSpPr>
        <p:spPr>
          <a:xfrm>
            <a:off x="6615292" y="3640634"/>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tata_letak.py</a:t>
            </a:r>
            <a:endParaRPr lang="en-US" sz="1400" dirty="0"/>
          </a:p>
        </p:txBody>
      </p:sp>
      <p:sp>
        <p:nvSpPr>
          <p:cNvPr id="20" name="Text 16"/>
          <p:cNvSpPr/>
          <p:nvPr/>
        </p:nvSpPr>
        <p:spPr>
          <a:xfrm>
            <a:off x="8609171" y="3653672"/>
            <a:ext cx="2630190" cy="24822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Menghitung posisi simpul di layar</a:t>
            </a:r>
            <a:endParaRPr lang="en-US" sz="1300" dirty="0"/>
          </a:p>
        </p:txBody>
      </p:sp>
      <p:sp>
        <p:nvSpPr>
          <p:cNvPr id="21" name="Shape 17"/>
          <p:cNvSpPr/>
          <p:nvPr/>
        </p:nvSpPr>
        <p:spPr>
          <a:xfrm>
            <a:off x="6432451" y="4135856"/>
            <a:ext cx="4813260" cy="709771"/>
          </a:xfrm>
          <a:prstGeom prst="roundRect">
            <a:avLst>
              <a:gd name="adj" fmla="val 13420"/>
            </a:avLst>
          </a:prstGeom>
          <a:solidFill>
            <a:srgbClr val="FFFDF8"/>
          </a:solidFill>
          <a:ln w="12700">
            <a:solidFill>
              <a:srgbClr val="DDD8CC"/>
            </a:solidFill>
            <a:prstDash val="solid"/>
          </a:ln>
        </p:spPr>
      </p:sp>
      <p:sp>
        <p:nvSpPr>
          <p:cNvPr id="22" name="Text 18"/>
          <p:cNvSpPr/>
          <p:nvPr/>
        </p:nvSpPr>
        <p:spPr>
          <a:xfrm>
            <a:off x="6615292" y="4366261"/>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visualisasi.py</a:t>
            </a:r>
            <a:endParaRPr lang="en-US" sz="1400" dirty="0"/>
          </a:p>
        </p:txBody>
      </p:sp>
      <p:sp>
        <p:nvSpPr>
          <p:cNvPr id="23" name="Text 19"/>
          <p:cNvSpPr/>
          <p:nvPr/>
        </p:nvSpPr>
        <p:spPr>
          <a:xfrm>
            <a:off x="8609171" y="4267916"/>
            <a:ext cx="2550795" cy="47105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GUI tkinter dan animasi pencarian</a:t>
            </a:r>
            <a:endParaRPr lang="en-US" sz="1300" dirty="0"/>
          </a:p>
        </p:txBody>
      </p:sp>
      <p:sp>
        <p:nvSpPr>
          <p:cNvPr id="24" name="Text 20"/>
          <p:cNvSpPr/>
          <p:nvPr/>
        </p:nvSpPr>
        <p:spPr>
          <a:xfrm>
            <a:off x="812780" y="5156777"/>
            <a:ext cx="1610201" cy="340281"/>
          </a:xfrm>
          <a:prstGeom prst="roundRect">
            <a:avLst>
              <a:gd name="adj" fmla="val 50000"/>
            </a:avLst>
          </a:prstGeom>
          <a:solidFill>
            <a:srgbClr val="EDE6FB"/>
          </a:solidFill>
          <a:ln/>
        </p:spPr>
        <p:txBody>
          <a:bodyPr wrap="none" lIns="0" tIns="0" rIns="0" bIns="0" rtlCol="0" anchor="ctr">
            <a:normAutofit/>
          </a:bodyPr>
          <a:lstStyle/>
          <a:p>
            <a:pPr algn="ctr" indent="0" marL="0">
              <a:lnSpc>
                <a:spcPts val="1680"/>
              </a:lnSpc>
              <a:buNone/>
            </a:pPr>
            <a:r>
              <a:rPr lang="en-US" sz="1200" b="1" dirty="0">
                <a:solidFill>
                  <a:srgbClr val="4A2A9E"/>
                </a:solidFill>
                <a:latin typeface="IBM Plex Sans" pitchFamily="34" charset="0"/>
                <a:ea typeface="IBM Plex Sans" pitchFamily="34" charset="-122"/>
                <a:cs typeface="IBM Plex Sans" pitchFamily="34" charset="-120"/>
              </a:rPr>
              <a:t>Python 3.8 ke atas</a:t>
            </a:r>
            <a:endParaRPr lang="en-US" sz="1200" dirty="0"/>
          </a:p>
        </p:txBody>
      </p:sp>
      <p:sp>
        <p:nvSpPr>
          <p:cNvPr id="25" name="Text 21"/>
          <p:cNvSpPr/>
          <p:nvPr/>
        </p:nvSpPr>
        <p:spPr>
          <a:xfrm>
            <a:off x="2524542" y="5156777"/>
            <a:ext cx="1467564" cy="340281"/>
          </a:xfrm>
          <a:prstGeom prst="roundRect">
            <a:avLst>
              <a:gd name="adj" fmla="val 50000"/>
            </a:avLst>
          </a:prstGeom>
          <a:solidFill>
            <a:srgbClr val="EDE6FB"/>
          </a:solidFill>
          <a:ln/>
        </p:spPr>
        <p:txBody>
          <a:bodyPr wrap="none" lIns="0" tIns="0" rIns="0" bIns="0" rtlCol="0" anchor="ctr">
            <a:normAutofit/>
          </a:bodyPr>
          <a:lstStyle/>
          <a:p>
            <a:pPr algn="ctr" indent="0" marL="0">
              <a:lnSpc>
                <a:spcPts val="1680"/>
              </a:lnSpc>
              <a:buNone/>
            </a:pPr>
            <a:r>
              <a:rPr lang="en-US" sz="1200" b="1" dirty="0">
                <a:solidFill>
                  <a:srgbClr val="4A2A9E"/>
                </a:solidFill>
                <a:latin typeface="IBM Plex Sans" pitchFamily="34" charset="0"/>
                <a:ea typeface="IBM Plex Sans" pitchFamily="34" charset="-122"/>
                <a:cs typeface="IBM Plex Sans" pitchFamily="34" charset="-120"/>
              </a:rPr>
              <a:t>Tanpa pip install</a:t>
            </a:r>
            <a:endParaRPr lang="en-US" sz="1200" dirty="0"/>
          </a:p>
        </p:txBody>
      </p:sp>
      <p:sp>
        <p:nvSpPr>
          <p:cNvPr id="26" name="Text 22"/>
          <p:cNvSpPr/>
          <p:nvPr/>
        </p:nvSpPr>
        <p:spPr>
          <a:xfrm>
            <a:off x="4093666" y="5156777"/>
            <a:ext cx="2090797" cy="340281"/>
          </a:xfrm>
          <a:prstGeom prst="roundRect">
            <a:avLst>
              <a:gd name="adj" fmla="val 50000"/>
            </a:avLst>
          </a:prstGeom>
          <a:solidFill>
            <a:srgbClr val="EDE6FB"/>
          </a:solidFill>
          <a:ln/>
        </p:spPr>
        <p:txBody>
          <a:bodyPr wrap="none" lIns="0" tIns="0" rIns="0" bIns="0" rtlCol="0" anchor="ctr">
            <a:normAutofit/>
          </a:bodyPr>
          <a:lstStyle/>
          <a:p>
            <a:pPr algn="ctr" indent="0" marL="0">
              <a:lnSpc>
                <a:spcPts val="1680"/>
              </a:lnSpc>
              <a:buNone/>
            </a:pPr>
            <a:r>
              <a:rPr lang="en-US" sz="1200" b="1" dirty="0">
                <a:solidFill>
                  <a:srgbClr val="4A2A9E"/>
                </a:solidFill>
                <a:latin typeface="IBM Plex Sans" pitchFamily="34" charset="0"/>
                <a:ea typeface="IBM Plex Sans" pitchFamily="34" charset="-122"/>
                <a:cs typeface="IBM Plex Sans" pitchFamily="34" charset="-120"/>
              </a:rPr>
              <a:t>Windows · macOS · Linux</a:t>
            </a:r>
            <a:endParaRPr lang="en-US" sz="1200" dirty="0"/>
          </a:p>
        </p:txBody>
      </p:sp>
      <p:sp>
        <p:nvSpPr>
          <p:cNvPr id="27" name="Text 23"/>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28" name="Text 24"/>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8"/>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PENYELESAIAN · DIJKSTRA</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Dijkstra: selalu ambil jarak terkecil</a:t>
            </a:r>
            <a:endParaRPr lang="en-US" sz="3200" dirty="0"/>
          </a:p>
        </p:txBody>
      </p:sp>
      <p:sp>
        <p:nvSpPr>
          <p:cNvPr id="4" name="Text 2"/>
          <p:cNvSpPr/>
          <p:nvPr/>
        </p:nvSpPr>
        <p:spPr>
          <a:xfrm>
            <a:off x="812780" y="1854160"/>
            <a:ext cx="562481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Awal: jarak V1 = 0, simpul lain = ∞. Ulangi tiga langkah sampai tujuan diambil:</a:t>
            </a:r>
            <a:endParaRPr lang="en-US" sz="1500" dirty="0"/>
          </a:p>
        </p:txBody>
      </p:sp>
      <p:sp>
        <p:nvSpPr>
          <p:cNvPr id="5" name="Text 3"/>
          <p:cNvSpPr/>
          <p:nvPr/>
        </p:nvSpPr>
        <p:spPr>
          <a:xfrm>
            <a:off x="812780" y="2590738"/>
            <a:ext cx="3556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1</a:t>
            </a:r>
            <a:endParaRPr lang="en-US" sz="2000" dirty="0"/>
          </a:p>
        </p:txBody>
      </p:sp>
      <p:sp>
        <p:nvSpPr>
          <p:cNvPr id="6" name="Text 4"/>
          <p:cNvSpPr/>
          <p:nvPr/>
        </p:nvSpPr>
        <p:spPr>
          <a:xfrm>
            <a:off x="1269980" y="2590738"/>
            <a:ext cx="51538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Ambil jarak terkecil</a:t>
            </a:r>
            <a:endParaRPr lang="en-US" sz="2000" dirty="0"/>
          </a:p>
        </p:txBody>
      </p:sp>
      <p:sp>
        <p:nvSpPr>
          <p:cNvPr id="7" name="Text 5"/>
          <p:cNvSpPr/>
          <p:nvPr/>
        </p:nvSpPr>
        <p:spPr>
          <a:xfrm>
            <a:off x="1269980" y="2933638"/>
            <a:ext cx="515389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Keluarkan simpul dengan jarak terkecil dari antrian prioritas.</a:t>
            </a:r>
            <a:endParaRPr lang="en-US" sz="1500" dirty="0"/>
          </a:p>
        </p:txBody>
      </p:sp>
      <p:sp>
        <p:nvSpPr>
          <p:cNvPr id="8" name="Text 6"/>
          <p:cNvSpPr/>
          <p:nvPr/>
        </p:nvSpPr>
        <p:spPr>
          <a:xfrm>
            <a:off x="812780" y="3670219"/>
            <a:ext cx="3556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2</a:t>
            </a:r>
            <a:endParaRPr lang="en-US" sz="2000" dirty="0"/>
          </a:p>
        </p:txBody>
      </p:sp>
      <p:sp>
        <p:nvSpPr>
          <p:cNvPr id="9" name="Text 7"/>
          <p:cNvSpPr/>
          <p:nvPr/>
        </p:nvSpPr>
        <p:spPr>
          <a:xfrm>
            <a:off x="1269980" y="3670219"/>
            <a:ext cx="354854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Tandai final</a:t>
            </a:r>
            <a:endParaRPr lang="en-US" sz="2000" dirty="0"/>
          </a:p>
        </p:txBody>
      </p:sp>
      <p:sp>
        <p:nvSpPr>
          <p:cNvPr id="10" name="Text 8"/>
          <p:cNvSpPr/>
          <p:nvPr/>
        </p:nvSpPr>
        <p:spPr>
          <a:xfrm>
            <a:off x="1269980" y="4013119"/>
            <a:ext cx="413423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Jarak simpul itu tidak akan berubah lagi.</a:t>
            </a:r>
            <a:endParaRPr lang="en-US" sz="1500" dirty="0"/>
          </a:p>
        </p:txBody>
      </p:sp>
      <p:sp>
        <p:nvSpPr>
          <p:cNvPr id="11" name="Text 9"/>
          <p:cNvSpPr/>
          <p:nvPr/>
        </p:nvSpPr>
        <p:spPr>
          <a:xfrm>
            <a:off x="812780" y="4483001"/>
            <a:ext cx="3556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3</a:t>
            </a:r>
            <a:endParaRPr lang="en-US" sz="2000" dirty="0"/>
          </a:p>
        </p:txBody>
      </p:sp>
      <p:sp>
        <p:nvSpPr>
          <p:cNvPr id="12" name="Text 10"/>
          <p:cNvSpPr/>
          <p:nvPr/>
        </p:nvSpPr>
        <p:spPr>
          <a:xfrm>
            <a:off x="1269980" y="4483001"/>
            <a:ext cx="51538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Relaksasi tetangga</a:t>
            </a:r>
            <a:endParaRPr lang="en-US" sz="2000" dirty="0"/>
          </a:p>
        </p:txBody>
      </p:sp>
      <p:sp>
        <p:nvSpPr>
          <p:cNvPr id="13" name="Text 11"/>
          <p:cNvSpPr/>
          <p:nvPr/>
        </p:nvSpPr>
        <p:spPr>
          <a:xfrm>
            <a:off x="1269980" y="4825901"/>
            <a:ext cx="515389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Jika jarak lewat simpul ini lebih kecil, perbarui jarak tetangga dan catat induknya.</a:t>
            </a:r>
            <a:endParaRPr lang="en-US" sz="1500" dirty="0"/>
          </a:p>
        </p:txBody>
      </p:sp>
      <p:sp>
        <p:nvSpPr>
          <p:cNvPr id="14" name="Shape 12"/>
          <p:cNvSpPr/>
          <p:nvPr/>
        </p:nvSpPr>
        <p:spPr>
          <a:xfrm>
            <a:off x="6683296" y="1857335"/>
            <a:ext cx="4692749" cy="3478133"/>
          </a:xfrm>
          <a:prstGeom prst="roundRect">
            <a:avLst>
              <a:gd name="adj" fmla="val 3560"/>
            </a:avLst>
          </a:prstGeom>
          <a:solidFill>
            <a:srgbClr val="FFFDF8"/>
          </a:solidFill>
          <a:ln w="6350">
            <a:solidFill>
              <a:srgbClr val="DDD8CC"/>
            </a:solidFill>
            <a:prstDash val="solid"/>
          </a:ln>
        </p:spPr>
      </p:sp>
      <p:sp>
        <p:nvSpPr>
          <p:cNvPr id="15" name="Text 13"/>
          <p:cNvSpPr/>
          <p:nvPr/>
        </p:nvSpPr>
        <p:spPr>
          <a:xfrm>
            <a:off x="6937891" y="2111930"/>
            <a:ext cx="430906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CONTOH INPUT A</a:t>
            </a:r>
            <a:endParaRPr lang="en-US" sz="1200" dirty="0"/>
          </a:p>
        </p:txBody>
      </p:sp>
      <p:sp>
        <p:nvSpPr>
          <p:cNvPr id="16" name="Text 14"/>
          <p:cNvSpPr/>
          <p:nvPr/>
        </p:nvSpPr>
        <p:spPr>
          <a:xfrm>
            <a:off x="6937891" y="2477691"/>
            <a:ext cx="443497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Setelah V1 diambil dan tetangganya direlaksasi:</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949321" y="2908221"/>
          <a:ext cx="4172129" cy="2172653"/>
        </p:xfrm>
        <a:graphic>
          <a:graphicData uri="http://schemas.openxmlformats.org/drawingml/2006/table">
            <a:tbl>
              <a:tblPr/>
              <a:tblGrid>
                <a:gridCol w="1460245"/>
                <a:gridCol w="2711884"/>
              </a:tblGrid>
              <a:tr h="384750">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Simpul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BBB8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Jarak sementara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BB8B0"/>
                      </a:solidFill>
                      <a:prstDash val="solid"/>
                      <a:round/>
                      <a:headEnd type="none" w="med" len="med"/>
                      <a:tailEnd type="none" w="med" len="med"/>
                    </a:lnB>
                    <a:solidFill>
                      <a:srgbClr val="EAE6DC"/>
                    </a:solidFill>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V1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0 (final)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V2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BDB8C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DB8C8"/>
                      </a:solidFill>
                      <a:prstDash val="solid"/>
                      <a:round/>
                      <a:headEnd type="none" w="med" len="med"/>
                      <a:tailEnd type="none" w="med" len="med"/>
                    </a:lnB>
                    <a:solidFill>
                      <a:srgbClr val="EDE6FB"/>
                    </a:solidFill>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120, terkecil → diambil berikutnya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DB8C8"/>
                      </a:solidFill>
                      <a:prstDash val="solid"/>
                      <a:round/>
                      <a:headEnd type="none" w="med" len="med"/>
                      <a:tailEnd type="none" w="med" len="med"/>
                    </a:lnL>
                    <a:lnR w="12700" cap="flat" cmpd="sng" algn="ctr">
                      <a:solidFill>
                        <a:srgbClr val="BDB8C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DB8C8"/>
                      </a:solidFill>
                      <a:prstDash val="solid"/>
                      <a:round/>
                      <a:headEnd type="none" w="med" len="med"/>
                      <a:tailEnd type="none" w="med" len="med"/>
                    </a:lnB>
                    <a:solidFill>
                      <a:srgbClr val="EDE6FB"/>
                    </a:solidFill>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V4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DB8C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200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DB8C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Lainnya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18" name="Text 15"/>
          <p:cNvSpPr/>
          <p:nvPr/>
        </p:nvSpPr>
        <p:spPr>
          <a:xfrm>
            <a:off x="812780" y="6235778"/>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9" name="Text 16"/>
          <p:cNvSpPr/>
          <p:nvPr/>
        </p:nvSpPr>
        <p:spPr>
          <a:xfrm>
            <a:off x="11145541" y="6235778"/>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8"/>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PENYELESAIAN · A*</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A*: Dijkstra yang diberi arah</a:t>
            </a:r>
            <a:endParaRPr lang="en-US" sz="3200" dirty="0"/>
          </a:p>
        </p:txBody>
      </p:sp>
      <p:sp>
        <p:nvSpPr>
          <p:cNvPr id="4" name="Shape 2"/>
          <p:cNvSpPr/>
          <p:nvPr/>
        </p:nvSpPr>
        <p:spPr>
          <a:xfrm>
            <a:off x="812780" y="1854160"/>
            <a:ext cx="10566440" cy="904161"/>
          </a:xfrm>
          <a:prstGeom prst="roundRect">
            <a:avLst>
              <a:gd name="adj" fmla="val 14046"/>
            </a:avLst>
          </a:prstGeom>
          <a:solidFill>
            <a:srgbClr val="14233B"/>
          </a:solidFill>
          <a:ln/>
        </p:spPr>
      </p:sp>
      <p:sp>
        <p:nvSpPr>
          <p:cNvPr id="5" name="Text 3"/>
          <p:cNvSpPr/>
          <p:nvPr/>
        </p:nvSpPr>
        <p:spPr>
          <a:xfrm>
            <a:off x="1117580" y="2108119"/>
            <a:ext cx="3950208" cy="421640"/>
          </a:xfrm>
          <a:prstGeom prst="rect">
            <a:avLst/>
          </a:prstGeom>
          <a:noFill/>
          <a:ln/>
        </p:spPr>
        <p:txBody>
          <a:bodyPr wrap="square" lIns="0" tIns="0" rIns="0" bIns="0" rtlCol="0" anchor="t">
            <a:normAutofit/>
          </a:bodyPr>
          <a:lstStyle/>
          <a:p>
            <a:pPr algn="l" indent="0" marL="0">
              <a:lnSpc>
                <a:spcPts val="3120"/>
              </a:lnSpc>
              <a:buNone/>
            </a:pPr>
            <a:r>
              <a:rPr lang="en-US" sz="2400" b="1" dirty="0">
                <a:solidFill>
                  <a:srgbClr val="F5F3EE"/>
                </a:solidFill>
                <a:latin typeface="JetBrains Mono" pitchFamily="49" charset="0"/>
                <a:ea typeface="JetBrains Mono" pitchFamily="49" charset="-122"/>
                <a:cs typeface="JetBrains Mono" pitchFamily="49" charset="-120"/>
              </a:rPr>
              <a:t>f(n) = g(n) + h(n)</a:t>
            </a:r>
            <a:endParaRPr lang="en-US" sz="2400" dirty="0"/>
          </a:p>
        </p:txBody>
      </p:sp>
      <p:sp>
        <p:nvSpPr>
          <p:cNvPr id="6" name="Text 4"/>
          <p:cNvSpPr/>
          <p:nvPr/>
        </p:nvSpPr>
        <p:spPr>
          <a:xfrm>
            <a:off x="6248460" y="2057338"/>
            <a:ext cx="4970739" cy="5232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3D3"/>
                </a:solidFill>
                <a:latin typeface="IBM Plex Sans" pitchFamily="34" charset="0"/>
                <a:ea typeface="IBM Plex Sans" pitchFamily="34" charset="-122"/>
                <a:cs typeface="IBM Plex Sans" pitchFamily="34" charset="-120"/>
              </a:rPr>
              <a:t>g = biaya dari titik awal · h = perkiraan sisa biaya menuju tujuan</a:t>
            </a:r>
            <a:endParaRPr lang="en-US" sz="1400" dirty="0"/>
          </a:p>
        </p:txBody>
      </p:sp>
      <p:sp>
        <p:nvSpPr>
          <p:cNvPr id="7" name="Text 5"/>
          <p:cNvSpPr/>
          <p:nvPr/>
        </p:nvSpPr>
        <p:spPr>
          <a:xfrm>
            <a:off x="812780" y="3063118"/>
            <a:ext cx="627900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HEURISTIK KAMI</a:t>
            </a:r>
            <a:endParaRPr lang="en-US" sz="1200" dirty="0"/>
          </a:p>
        </p:txBody>
      </p:sp>
      <p:sp>
        <p:nvSpPr>
          <p:cNvPr id="8" name="Text 6"/>
          <p:cNvSpPr/>
          <p:nvPr/>
        </p:nvSpPr>
        <p:spPr>
          <a:xfrm>
            <a:off x="812780" y="3378039"/>
            <a:ext cx="6279003" cy="306090"/>
          </a:xfrm>
          <a:prstGeom prst="rect">
            <a:avLst/>
          </a:prstGeom>
          <a:noFill/>
          <a:ln/>
        </p:spPr>
        <p:txBody>
          <a:bodyPr wrap="square" lIns="0" tIns="0" rIns="0" bIns="0" rtlCol="0" anchor="t">
            <a:normAutofit/>
          </a:bodyPr>
          <a:lstStyle/>
          <a:p>
            <a:pPr algn="l" indent="0" marL="0">
              <a:lnSpc>
                <a:spcPts val="2210"/>
              </a:lnSpc>
              <a:buNone/>
            </a:pPr>
            <a:r>
              <a:rPr lang="en-US" sz="1700" b="1" dirty="0">
                <a:solidFill>
                  <a:srgbClr val="14233B"/>
                </a:solidFill>
                <a:latin typeface="JetBrains Mono" pitchFamily="49" charset="0"/>
                <a:ea typeface="JetBrains Mono" pitchFamily="49" charset="-122"/>
                <a:cs typeface="JetBrains Mono" pitchFamily="49" charset="-120"/>
              </a:rPr>
              <a:t>h(n) = w_min × hop(n, tujuan)</a:t>
            </a:r>
            <a:endParaRPr lang="en-US" sz="1700" dirty="0"/>
          </a:p>
        </p:txBody>
      </p:sp>
      <p:sp>
        <p:nvSpPr>
          <p:cNvPr id="9" name="Text 7"/>
          <p:cNvSpPr/>
          <p:nvPr/>
        </p:nvSpPr>
        <p:spPr>
          <a:xfrm>
            <a:off x="812780" y="3760291"/>
            <a:ext cx="627900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Graf tidak punya koordinat, jadi jarak garis lurus tidak bisa dipakai. w_min = bobot sisi terkecil; hop = jumlah langkah minimum ke tujuan, dihitung dengan BFS.</a:t>
            </a:r>
            <a:endParaRPr lang="en-US" sz="1500" dirty="0"/>
          </a:p>
        </p:txBody>
      </p:sp>
      <p:sp>
        <p:nvSpPr>
          <p:cNvPr id="10" name="Shape 8"/>
          <p:cNvSpPr/>
          <p:nvPr/>
        </p:nvSpPr>
        <p:spPr>
          <a:xfrm>
            <a:off x="7318435" y="3066293"/>
            <a:ext cx="4057610" cy="1712972"/>
          </a:xfrm>
          <a:prstGeom prst="roundRect">
            <a:avLst>
              <a:gd name="adj" fmla="val 7229"/>
            </a:avLst>
          </a:prstGeom>
          <a:solidFill>
            <a:srgbClr val="FFFDF8"/>
          </a:solidFill>
          <a:ln w="6350">
            <a:solidFill>
              <a:srgbClr val="DDD8CC"/>
            </a:solidFill>
            <a:prstDash val="solid"/>
          </a:ln>
        </p:spPr>
      </p:sp>
      <p:sp>
        <p:nvSpPr>
          <p:cNvPr id="11" name="Text 9"/>
          <p:cNvSpPr/>
          <p:nvPr/>
        </p:nvSpPr>
        <p:spPr>
          <a:xfrm>
            <a:off x="7573030" y="3320889"/>
            <a:ext cx="36548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CONTOH INPUT A</a:t>
            </a:r>
            <a:endParaRPr lang="en-US" sz="1200" dirty="0"/>
          </a:p>
        </p:txBody>
      </p:sp>
      <p:sp>
        <p:nvSpPr>
          <p:cNvPr id="12" name="Text 10"/>
          <p:cNvSpPr/>
          <p:nvPr/>
        </p:nvSpPr>
        <p:spPr>
          <a:xfrm>
            <a:off x="7573030" y="3610449"/>
            <a:ext cx="3654872" cy="939621"/>
          </a:xfrm>
          <a:prstGeom prst="rect">
            <a:avLst/>
          </a:prstGeom>
          <a:noFill/>
          <a:ln/>
        </p:spPr>
        <p:txBody>
          <a:bodyPr wrap="square" lIns="0" tIns="0" rIns="0" bIns="0" rtlCol="0" anchor="t">
            <a:normAutofit/>
          </a:bodyPr>
          <a:lstStyle/>
          <a:p>
            <a:pPr algn="l" indent="0" marL="0">
              <a:lnSpc>
                <a:spcPts val="2400"/>
              </a:lnSpc>
              <a:buNone/>
            </a:pPr>
            <a:r>
              <a:rPr lang="en-US" sz="1600" dirty="0">
                <a:solidFill>
                  <a:srgbClr val="14233B"/>
                </a:solidFill>
                <a:latin typeface="JetBrains Mono" pitchFamily="49" charset="0"/>
                <a:ea typeface="JetBrains Mono" pitchFamily="49" charset="-122"/>
                <a:cs typeface="JetBrains Mono" pitchFamily="49" charset="-120"/>
              </a:rPr>
              <a:t>w_min = 70</a:t>
            </a:r>
            <a:endParaRPr lang="en-US" sz="1600" dirty="0"/>
          </a:p>
          <a:p>
            <a:pPr algn="l" indent="0" marL="0">
              <a:lnSpc>
                <a:spcPts val="2400"/>
              </a:lnSpc>
              <a:buNone/>
            </a:pPr>
            <a:r>
              <a:rPr lang="en-US" sz="1600" dirty="0">
                <a:solidFill>
                  <a:srgbClr val="14233B"/>
                </a:solidFill>
                <a:latin typeface="JetBrains Mono" pitchFamily="49" charset="0"/>
                <a:ea typeface="JetBrains Mono" pitchFamily="49" charset="-122"/>
                <a:cs typeface="JetBrains Mono" pitchFamily="49" charset="-120"/>
              </a:rPr>
              <a:t>hop(V1 → V15) = 4</a:t>
            </a:r>
            <a:endParaRPr lang="en-US" sz="1600" dirty="0"/>
          </a:p>
          <a:p>
            <a:pPr algn="l" indent="0" marL="0">
              <a:lnSpc>
                <a:spcPts val="2400"/>
              </a:lnSpc>
              <a:buNone/>
            </a:pPr>
            <a:r>
              <a:rPr lang="en-US" sz="1600" b="1" dirty="0">
                <a:solidFill>
                  <a:srgbClr val="14233B"/>
                </a:solidFill>
                <a:latin typeface="JetBrains Mono" pitchFamily="49" charset="0"/>
                <a:ea typeface="JetBrains Mono" pitchFamily="49" charset="-122"/>
                <a:cs typeface="JetBrains Mono" pitchFamily="49" charset="-120"/>
              </a:rPr>
              <a:t>h(V1) = 70 × 4 = 280</a:t>
            </a:r>
            <a:endParaRPr lang="en-US" sz="1600" dirty="0"/>
          </a:p>
        </p:txBody>
      </p:sp>
      <p:sp>
        <p:nvSpPr>
          <p:cNvPr id="13" name="Text 11"/>
          <p:cNvSpPr/>
          <p:nvPr/>
        </p:nvSpPr>
        <p:spPr>
          <a:xfrm>
            <a:off x="812780" y="5087240"/>
            <a:ext cx="10566440" cy="700921"/>
          </a:xfrm>
          <a:prstGeom prst="roundRect">
            <a:avLst>
              <a:gd name="adj" fmla="val 14495"/>
            </a:avLst>
          </a:prstGeom>
          <a:solidFill>
            <a:srgbClr val="EDE6FB"/>
          </a:solidFill>
          <a:ln/>
        </p:spPr>
        <p:txBody>
          <a:bodyPr wrap="square" lIns="148042" tIns="71842" rIns="0" bIns="46442" rtlCol="0" anchor="t">
            <a:normAutofit/>
          </a:bodyPr>
          <a:lstStyle/>
          <a:p>
            <a:pPr algn="l" indent="0" marL="0">
              <a:lnSpc>
                <a:spcPts val="1960"/>
              </a:lnSpc>
              <a:buNone/>
            </a:pPr>
            <a:r>
              <a:rPr lang="en-US" sz="1400" b="1" dirty="0">
                <a:solidFill>
                  <a:srgbClr val="4A2A9E"/>
                </a:solidFill>
                <a:latin typeface="IBM Plex Sans" pitchFamily="34" charset="0"/>
                <a:ea typeface="IBM Plex Sans" pitchFamily="34" charset="-122"/>
                <a:cs typeface="IBM Plex Sans" pitchFamily="34" charset="-120"/>
              </a:rPr>
              <a:t>Admissible:</a:t>
            </a:r>
            <a:r>
              <a:rPr lang="en-US" sz="1400" dirty="0">
                <a:solidFill>
                  <a:srgbClr val="4A2A9E"/>
                </a:solidFill>
                <a:latin typeface="IBM Plex Sans" pitchFamily="34" charset="0"/>
                <a:ea typeface="IBM Plex Sans" pitchFamily="34" charset="-122"/>
                <a:cs typeface="IBM Plex Sans" pitchFamily="34" charset="-120"/>
              </a:rPr>
              <a:t> h tidak pernah melebihi biaya sebenarnya, karena setiap langkah berbobot minimal 70. Jalur yang ditemukan A* tetap optimal.</a:t>
            </a:r>
            <a:endParaRPr lang="en-US" sz="1400" dirty="0"/>
          </a:p>
        </p:txBody>
      </p:sp>
      <p:sp>
        <p:nvSpPr>
          <p:cNvPr id="14" name="Text 12"/>
          <p:cNvSpPr/>
          <p:nvPr/>
        </p:nvSpPr>
        <p:spPr>
          <a:xfrm>
            <a:off x="812780" y="6235778"/>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5" name="Text 13"/>
          <p:cNvSpPr/>
          <p:nvPr/>
        </p:nvSpPr>
        <p:spPr>
          <a:xfrm>
            <a:off x="11145541" y="6235778"/>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KOMPLEKSITAS</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Waktu dan ruang kedua algoritma</a:t>
            </a:r>
            <a:endParaRPr lang="en-US" sz="3200" dirty="0"/>
          </a:p>
        </p:txBody>
      </p:sp>
      <p:sp>
        <p:nvSpPr>
          <p:cNvPr id="4" name="Shape 2"/>
          <p:cNvSpPr/>
          <p:nvPr/>
        </p:nvSpPr>
        <p:spPr>
          <a:xfrm>
            <a:off x="812780" y="1854163"/>
            <a:ext cx="10566381" cy="1516380"/>
          </a:xfrm>
          <a:prstGeom prst="roundRect">
            <a:avLst>
              <a:gd name="adj" fmla="val 6700"/>
            </a:avLst>
          </a:prstGeom>
          <a:solidFill>
            <a:srgbClr val="FFFDF8"/>
          </a:solidFill>
          <a:ln/>
        </p:spPr>
      </p:sp>
      <p:sp>
        <p:nvSpPr>
          <p:cNvPr id="5" name="Shape 3"/>
          <p:cNvSpPr/>
          <p:nvPr/>
        </p:nvSpPr>
        <p:spPr>
          <a:xfrm>
            <a:off x="812780" y="1854163"/>
            <a:ext cx="10566381" cy="1516380"/>
          </a:xfrm>
          <a:custGeom>
            <a:avLst/>
            <a:gdLst/>
            <a:ahLst/>
            <a:cxnLst/>
            <a:rect l="l" t="t" r="r" b="b"/>
            <a:pathLst>
              <a:path w="10566381" h="1516380">
                <a:moveTo>
                  <a:pt x="10464781" y="0"/>
                </a:moveTo>
                <a:lnTo>
                  <a:pt x="10464781" y="0"/>
                </a:lnTo>
                <a:arcTo hR="101600" wR="101600" stAng="16200000" swAng="5400000"/>
                <a:lnTo>
                  <a:pt x="10566381" y="1414780"/>
                </a:lnTo>
                <a:arcTo hR="101600" wR="101600" stAng="0" swAng="5400000"/>
                <a:lnTo>
                  <a:pt x="101600" y="1516380"/>
                </a:lnTo>
                <a:arcTo hR="101600" wR="101600" stAng="5400000" swAng="5400000"/>
                <a:lnTo>
                  <a:pt x="0" y="1414780"/>
                </a:lnTo>
                <a:arcTo hR="95250" wR="101600" stAng="10800000" swAng="-5400000"/>
                <a:lnTo>
                  <a:pt x="10464781" y="1510030"/>
                </a:lnTo>
                <a:arcTo hR="95250" wR="95250" stAng="5400000" swAng="-5400000"/>
                <a:lnTo>
                  <a:pt x="10560031" y="101600"/>
                </a:lnTo>
                <a:arcTo hR="101600" wR="95250" stAng="0" swAng="-5400000"/>
                <a:close/>
              </a:path>
            </a:pathLst>
          </a:custGeom>
          <a:solidFill>
            <a:srgbClr val="DDD8CC"/>
          </a:solidFill>
          <a:ln/>
        </p:spPr>
      </p:sp>
      <p:sp>
        <p:nvSpPr>
          <p:cNvPr id="6" name="Shape 4"/>
          <p:cNvSpPr/>
          <p:nvPr/>
        </p:nvSpPr>
        <p:spPr>
          <a:xfrm>
            <a:off x="812780" y="1854163"/>
            <a:ext cx="10566381" cy="1516380"/>
          </a:xfrm>
          <a:custGeom>
            <a:avLst/>
            <a:gdLst/>
            <a:ahLst/>
            <a:cxnLst/>
            <a:rect l="l" t="t" r="r" b="b"/>
            <a:pathLst>
              <a:path w="10566381" h="1516380">
                <a:moveTo>
                  <a:pt x="101600" y="1516380"/>
                </a:moveTo>
                <a:lnTo>
                  <a:pt x="101600" y="1516380"/>
                </a:lnTo>
                <a:arcTo hR="101600" wR="101600" stAng="5400000" swAng="5400000"/>
                <a:lnTo>
                  <a:pt x="0" y="101600"/>
                </a:lnTo>
                <a:arcTo hR="101600" wR="101600" stAng="10800000" swAng="5400000"/>
                <a:lnTo>
                  <a:pt x="10464781" y="0"/>
                </a:lnTo>
                <a:arcTo hR="101600" wR="101600" stAng="16200000" swAng="5400000"/>
                <a:lnTo>
                  <a:pt x="10566381" y="101600"/>
                </a:lnTo>
                <a:arcTo hR="90170" wR="101600" stAng="0" swAng="-5400000"/>
                <a:lnTo>
                  <a:pt x="101600" y="11430"/>
                </a:lnTo>
                <a:arcTo hR="90170" wR="90170" stAng="16200000" swAng="-5400000"/>
                <a:lnTo>
                  <a:pt x="11430" y="1414780"/>
                </a:lnTo>
                <a:arcTo hR="101600" wR="90170" stAng="10800000" swAng="-5400000"/>
                <a:close/>
              </a:path>
            </a:pathLst>
          </a:custGeom>
          <a:solidFill>
            <a:srgbClr val="141413">
              <a:alpha val="22000"/>
            </a:srgbClr>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210" y="1865593"/>
          <a:ext cx="10551141" cy="1501140"/>
        </p:xfrm>
        <a:graphic>
          <a:graphicData uri="http://schemas.openxmlformats.org/drawingml/2006/table">
            <a:tbl>
              <a:tblPr/>
              <a:tblGrid>
                <a:gridCol w="2321251"/>
                <a:gridCol w="2954319"/>
                <a:gridCol w="1477160"/>
                <a:gridCol w="3798411"/>
              </a:tblGrid>
              <a:tr h="411480">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Algoritma</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Waktu</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Ruang</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Catatan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r>
              <a:tr h="411480">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Dijkstra (binary heap)</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 log V)</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Heap dengan lazy deletion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78180">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 (heuristik konsisten)</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 log V) + O(V + 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Ditambah BFS untuk heuristik; kasus terburuk sama dengan Dijkstra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8" name="Shape 5"/>
          <p:cNvSpPr/>
          <p:nvPr/>
        </p:nvSpPr>
        <p:spPr>
          <a:xfrm>
            <a:off x="815955" y="3678517"/>
            <a:ext cx="2279650" cy="1174691"/>
          </a:xfrm>
          <a:prstGeom prst="roundRect">
            <a:avLst>
              <a:gd name="adj" fmla="val 10541"/>
            </a:avLst>
          </a:prstGeom>
          <a:solidFill>
            <a:srgbClr val="FFFDF8"/>
          </a:solidFill>
          <a:ln w="6350">
            <a:solidFill>
              <a:srgbClr val="DDD8CC"/>
            </a:solidFill>
            <a:prstDash val="solid"/>
          </a:ln>
        </p:spPr>
      </p:sp>
      <p:sp>
        <p:nvSpPr>
          <p:cNvPr id="9" name="Text 6"/>
          <p:cNvSpPr/>
          <p:nvPr/>
        </p:nvSpPr>
        <p:spPr>
          <a:xfrm>
            <a:off x="1019770" y="3882330"/>
            <a:ext cx="1928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V · jumlah simpul</a:t>
            </a:r>
            <a:endParaRPr lang="en-US" sz="1200" dirty="0"/>
          </a:p>
        </p:txBody>
      </p:sp>
      <p:sp>
        <p:nvSpPr>
          <p:cNvPr id="10" name="Text 7"/>
          <p:cNvSpPr/>
          <p:nvPr/>
        </p:nvSpPr>
        <p:spPr>
          <a:xfrm>
            <a:off x="1019770" y="4146476"/>
            <a:ext cx="1928180"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6D35D6"/>
                </a:solidFill>
                <a:latin typeface="Space Grotesk" pitchFamily="34" charset="0"/>
                <a:ea typeface="Space Grotesk" pitchFamily="34" charset="-122"/>
                <a:cs typeface="Space Grotesk" pitchFamily="34" charset="-120"/>
              </a:rPr>
              <a:t>15</a:t>
            </a:r>
            <a:endParaRPr lang="en-US" sz="3600" dirty="0"/>
          </a:p>
        </p:txBody>
      </p:sp>
      <p:sp>
        <p:nvSpPr>
          <p:cNvPr id="11" name="Shape 8"/>
          <p:cNvSpPr/>
          <p:nvPr/>
        </p:nvSpPr>
        <p:spPr>
          <a:xfrm>
            <a:off x="3305135" y="3678517"/>
            <a:ext cx="2279650" cy="1174691"/>
          </a:xfrm>
          <a:prstGeom prst="roundRect">
            <a:avLst>
              <a:gd name="adj" fmla="val 10541"/>
            </a:avLst>
          </a:prstGeom>
          <a:solidFill>
            <a:srgbClr val="FFFDF8"/>
          </a:solidFill>
          <a:ln w="6350">
            <a:solidFill>
              <a:srgbClr val="DDD8CC"/>
            </a:solidFill>
            <a:prstDash val="solid"/>
          </a:ln>
        </p:spPr>
      </p:sp>
      <p:sp>
        <p:nvSpPr>
          <p:cNvPr id="12" name="Text 9"/>
          <p:cNvSpPr/>
          <p:nvPr/>
        </p:nvSpPr>
        <p:spPr>
          <a:xfrm>
            <a:off x="3508951" y="3882330"/>
            <a:ext cx="1928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E · jumlah sisi</a:t>
            </a:r>
            <a:endParaRPr lang="en-US" sz="1200" dirty="0"/>
          </a:p>
        </p:txBody>
      </p:sp>
      <p:sp>
        <p:nvSpPr>
          <p:cNvPr id="13" name="Text 10"/>
          <p:cNvSpPr/>
          <p:nvPr/>
        </p:nvSpPr>
        <p:spPr>
          <a:xfrm>
            <a:off x="3508951" y="4146476"/>
            <a:ext cx="1928180"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6D35D6"/>
                </a:solidFill>
                <a:latin typeface="Space Grotesk" pitchFamily="34" charset="0"/>
                <a:ea typeface="Space Grotesk" pitchFamily="34" charset="-122"/>
                <a:cs typeface="Space Grotesk" pitchFamily="34" charset="-120"/>
              </a:rPr>
              <a:t>18</a:t>
            </a:r>
            <a:endParaRPr lang="en-US" sz="3600" dirty="0"/>
          </a:p>
        </p:txBody>
      </p:sp>
      <p:sp>
        <p:nvSpPr>
          <p:cNvPr id="14" name="Text 11"/>
          <p:cNvSpPr/>
          <p:nvPr/>
        </p:nvSpPr>
        <p:spPr>
          <a:xfrm>
            <a:off x="5791141" y="3999136"/>
            <a:ext cx="575572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Nilai V dan E pada input A. Dengan graf sekecil ini, kedua algoritma selesai dalam hitungan mikrodetik.</a:t>
            </a:r>
            <a:endParaRPr lang="en-US" sz="1500" dirty="0"/>
          </a:p>
        </p:txBody>
      </p:sp>
      <p:sp>
        <p:nvSpPr>
          <p:cNvPr id="15" name="Text 12"/>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6" name="Text 13"/>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IMPLEMENTASI</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Inti pencarian di algoritma.py</a:t>
            </a:r>
            <a:endParaRPr lang="en-US" sz="3200" dirty="0"/>
          </a:p>
        </p:txBody>
      </p:sp>
      <p:sp>
        <p:nvSpPr>
          <p:cNvPr id="4" name="Text 2"/>
          <p:cNvSpPr/>
          <p:nvPr/>
        </p:nvSpPr>
        <p:spPr>
          <a:xfrm>
            <a:off x="812780" y="1854163"/>
            <a:ext cx="6222980" cy="3494961"/>
          </a:xfrm>
          <a:prstGeom prst="roundRect">
            <a:avLst>
              <a:gd name="adj" fmla="val 3634"/>
            </a:avLst>
          </a:prstGeom>
          <a:solidFill>
            <a:srgbClr val="14233B"/>
          </a:solidFill>
          <a:ln/>
        </p:spPr>
        <p:txBody>
          <a:bodyPr wrap="square" lIns="216763" tIns="216803" rIns="45311" bIns="191324" rtlCol="0" anchor="t">
            <a:normAutofit/>
          </a:bodyPr>
          <a:lstStyle/>
          <a:p>
            <a:pPr algn="l" indent="0" marL="0">
              <a:lnSpc>
                <a:spcPts val="1680"/>
              </a:lnSpc>
              <a:buNone/>
            </a:pPr>
            <a:r>
              <a:rPr lang="en-US" sz="1200" dirty="0">
                <a:solidFill>
                  <a:srgbClr val="8D9BB3"/>
                </a:solidFill>
                <a:latin typeface="JetBrains Mono" pitchFamily="49" charset="0"/>
                <a:ea typeface="JetBrains Mono" pitchFamily="49" charset="-122"/>
                <a:cs typeface="JetBrains Mono" pitchFamily="49" charset="-120"/>
              </a:rPr>
              <a:t># Dijkstra (disederhanakan)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while antrian: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d, _, u = heapq.heappop(antrian)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if u in selesai:</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continue  </a:t>
            </a:r>
            <a:r>
              <a:rPr lang="en-US" sz="1200" dirty="0">
                <a:solidFill>
                  <a:srgbClr val="8D9BB3"/>
                </a:solidFill>
                <a:latin typeface="JetBrains Mono" pitchFamily="49" charset="0"/>
                <a:ea typeface="JetBrains Mono" pitchFamily="49" charset="-122"/>
                <a:cs typeface="JetBrains Mono" pitchFamily="49" charset="-120"/>
              </a:rPr>
              <a:t># entri usang (lazy deletion)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selesai.add(u)</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if u == akhir:</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break     </a:t>
            </a:r>
            <a:r>
              <a:rPr lang="en-US" sz="1200" dirty="0">
                <a:solidFill>
                  <a:srgbClr val="8D9BB3"/>
                </a:solidFill>
                <a:latin typeface="JetBrains Mono" pitchFamily="49" charset="0"/>
                <a:ea typeface="JetBrains Mono" pitchFamily="49" charset="-122"/>
                <a:cs typeface="JetBrains Mono" pitchFamily="49" charset="-120"/>
              </a:rPr>
              <a:t># tujuan sudah final</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for v, w in graf[u].items():</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baru = d + w</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if baru &lt; jarak.get(v, INF):</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jarak[v] = baru</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induk[v] = u</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heapq.heappush(antrian, (baru, n, v))</a:t>
            </a:r>
            <a:endParaRPr lang="en-US" sz="1200" dirty="0"/>
          </a:p>
        </p:txBody>
      </p:sp>
      <p:pic>
        <p:nvPicPr>
          <p:cNvPr id="5" name="Image 0" descr="Lightning">    </p:cNvPr>
          <p:cNvPicPr>
            <a:picLocks noChangeAspect="1"/>
          </p:cNvPicPr>
          <p:nvPr/>
        </p:nvPicPr>
        <p:blipFill>
          <a:blip r:embed="rId1"/>
          <a:srcRect l="-268" r="-268" t="0" b="0"/>
          <a:stretch/>
        </p:blipFill>
        <p:spPr>
          <a:xfrm>
            <a:off x="7391341" y="1854163"/>
            <a:ext cx="229791" cy="253960"/>
          </a:xfrm>
          <a:prstGeom prst="rect">
            <a:avLst/>
          </a:prstGeom>
        </p:spPr>
      </p:pic>
      <p:sp>
        <p:nvSpPr>
          <p:cNvPr id="6" name="Text 3"/>
          <p:cNvSpPr/>
          <p:nvPr/>
        </p:nvSpPr>
        <p:spPr>
          <a:xfrm>
            <a:off x="7748112" y="1854163"/>
            <a:ext cx="3740042"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heapq</a:t>
            </a:r>
            <a:r>
              <a:rPr lang="en-US" sz="1400" dirty="0">
                <a:solidFill>
                  <a:srgbClr val="3E4A5C"/>
                </a:solidFill>
                <a:latin typeface="IBM Plex Sans" pitchFamily="34" charset="0"/>
                <a:ea typeface="IBM Plex Sans" pitchFamily="34" charset="-122"/>
                <a:cs typeface="IBM Plex Sans" pitchFamily="34" charset="-120"/>
              </a:rPr>
              <a:t> sebagai antrian prioritas (binary min-heap).</a:t>
            </a:r>
            <a:endParaRPr lang="en-US" sz="1400" dirty="0"/>
          </a:p>
        </p:txBody>
      </p:sp>
      <p:pic>
        <p:nvPicPr>
          <p:cNvPr id="7" name="Image 1" descr="Play">    </p:cNvPr>
          <p:cNvPicPr>
            <a:picLocks noChangeAspect="1"/>
          </p:cNvPicPr>
          <p:nvPr/>
        </p:nvPicPr>
        <p:blipFill>
          <a:blip r:embed="rId2"/>
          <a:srcRect l="-26" r="-26" t="0" b="0"/>
          <a:stretch/>
        </p:blipFill>
        <p:spPr>
          <a:xfrm>
            <a:off x="7391341" y="2580562"/>
            <a:ext cx="215979" cy="253960"/>
          </a:xfrm>
          <a:prstGeom prst="rect">
            <a:avLst/>
          </a:prstGeom>
        </p:spPr>
      </p:pic>
      <p:sp>
        <p:nvSpPr>
          <p:cNvPr id="8" name="Text 4"/>
          <p:cNvSpPr/>
          <p:nvPr/>
        </p:nvSpPr>
        <p:spPr>
          <a:xfrm>
            <a:off x="7734300" y="2580562"/>
            <a:ext cx="3754268" cy="5232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Setiap langkah bisa dicatat, lalu </a:t>
            </a:r>
            <a:r>
              <a:rPr lang="en-US" sz="1400" b="1" dirty="0">
                <a:solidFill>
                  <a:srgbClr val="3E4A5C"/>
                </a:solidFill>
                <a:latin typeface="IBM Plex Sans" pitchFamily="34" charset="0"/>
                <a:ea typeface="IBM Plex Sans" pitchFamily="34" charset="-122"/>
                <a:cs typeface="IBM Plex Sans" pitchFamily="34" charset="-120"/>
              </a:rPr>
              <a:t>dianimasikan</a:t>
            </a:r>
            <a:r>
              <a:rPr lang="en-US" sz="1400" dirty="0">
                <a:solidFill>
                  <a:srgbClr val="3E4A5C"/>
                </a:solidFill>
                <a:latin typeface="IBM Plex Sans" pitchFamily="34" charset="0"/>
                <a:ea typeface="IBM Plex Sans" pitchFamily="34" charset="-122"/>
                <a:cs typeface="IBM Plex Sans" pitchFamily="34" charset="-120"/>
              </a:rPr>
              <a:t> di GUI.</a:t>
            </a:r>
            <a:endParaRPr lang="en-US" sz="1400" dirty="0"/>
          </a:p>
        </p:txBody>
      </p:sp>
      <p:pic>
        <p:nvPicPr>
          <p:cNvPr id="9" name="Image 2" descr="Clock">    </p:cNvPr>
          <p:cNvPicPr>
            <a:picLocks noChangeAspect="1"/>
          </p:cNvPicPr>
          <p:nvPr/>
        </p:nvPicPr>
        <p:blipFill>
          <a:blip r:embed="rId3"/>
          <a:srcRect l="-521" r="-521" t="0" b="0"/>
          <a:stretch/>
        </p:blipFill>
        <p:spPr>
          <a:xfrm>
            <a:off x="7391341" y="3306961"/>
            <a:ext cx="160377" cy="253960"/>
          </a:xfrm>
          <a:prstGeom prst="rect">
            <a:avLst/>
          </a:prstGeom>
        </p:spPr>
      </p:pic>
      <p:sp>
        <p:nvSpPr>
          <p:cNvPr id="10" name="Text 5"/>
          <p:cNvSpPr/>
          <p:nvPr/>
        </p:nvSpPr>
        <p:spPr>
          <a:xfrm>
            <a:off x="7678698" y="3306961"/>
            <a:ext cx="3811538"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Waktu running:</a:t>
            </a:r>
            <a:r>
              <a:rPr lang="en-US" sz="1400" dirty="0">
                <a:solidFill>
                  <a:srgbClr val="3E4A5C"/>
                </a:solidFill>
                <a:latin typeface="IBM Plex Sans" pitchFamily="34" charset="0"/>
                <a:ea typeface="IBM Plex Sans" pitchFamily="34" charset="-122"/>
                <a:cs typeface="IBM Plex Sans" pitchFamily="34" charset="-120"/>
              </a:rPr>
              <a:t> dijalankan ribuan kali tanpa animasi, lalu dirata-rata (µs).</a:t>
            </a:r>
            <a:endParaRPr lang="en-US" sz="1400" dirty="0"/>
          </a:p>
        </p:txBody>
      </p:sp>
      <p:pic>
        <p:nvPicPr>
          <p:cNvPr id="11" name="Image 3" descr="Lock">    </p:cNvPr>
          <p:cNvPicPr>
            <a:picLocks noChangeAspect="1"/>
          </p:cNvPicPr>
          <p:nvPr/>
        </p:nvPicPr>
        <p:blipFill>
          <a:blip r:embed="rId4"/>
          <a:srcRect l="0" r="0" t="-394" b="-394"/>
          <a:stretch/>
        </p:blipFill>
        <p:spPr>
          <a:xfrm>
            <a:off x="7391341" y="4033366"/>
            <a:ext cx="170081" cy="253960"/>
          </a:xfrm>
          <a:prstGeom prst="rect">
            <a:avLst/>
          </a:prstGeom>
        </p:spPr>
      </p:pic>
      <p:sp>
        <p:nvSpPr>
          <p:cNvPr id="12" name="Text 6"/>
          <p:cNvSpPr/>
          <p:nvPr/>
        </p:nvSpPr>
        <p:spPr>
          <a:xfrm>
            <a:off x="7688402" y="4033366"/>
            <a:ext cx="3801543"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ast.literal_eval:</a:t>
            </a:r>
            <a:r>
              <a:rPr lang="en-US" sz="1400" dirty="0">
                <a:solidFill>
                  <a:srgbClr val="3E4A5C"/>
                </a:solidFill>
                <a:latin typeface="IBM Plex Sans" pitchFamily="34" charset="0"/>
                <a:ea typeface="IBM Plex Sans" pitchFamily="34" charset="-122"/>
                <a:cs typeface="IBM Plex Sans" pitchFamily="34" charset="-120"/>
              </a:rPr>
              <a:t> isi file tidak pernah dijalankan; bobot negatif ditolak.</a:t>
            </a:r>
            <a:endParaRPr lang="en-US" sz="1400" dirty="0"/>
          </a:p>
        </p:txBody>
      </p:sp>
      <p:sp>
        <p:nvSpPr>
          <p:cNvPr id="13" name="Text 7"/>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4" name="Text 8"/>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SOLUSI · DEMO</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Menjalankan program</a:t>
            </a:r>
            <a:endParaRPr lang="en-US" sz="3200" dirty="0"/>
          </a:p>
        </p:txBody>
      </p:sp>
      <p:sp>
        <p:nvSpPr>
          <p:cNvPr id="4" name="Shape 2"/>
          <p:cNvSpPr/>
          <p:nvPr/>
        </p:nvSpPr>
        <p:spPr>
          <a:xfrm>
            <a:off x="812780" y="1854163"/>
            <a:ext cx="3429000" cy="863441"/>
          </a:xfrm>
          <a:prstGeom prst="roundRect">
            <a:avLst>
              <a:gd name="adj" fmla="val 11767"/>
            </a:avLst>
          </a:prstGeom>
          <a:solidFill>
            <a:srgbClr val="14233B"/>
          </a:solidFill>
          <a:ln/>
        </p:spPr>
      </p:sp>
      <p:sp>
        <p:nvSpPr>
          <p:cNvPr id="5" name="Text 3"/>
          <p:cNvSpPr/>
          <p:nvPr/>
        </p:nvSpPr>
        <p:spPr>
          <a:xfrm>
            <a:off x="1015960" y="2031926"/>
            <a:ext cx="311331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Ketik di terminal</a:t>
            </a:r>
            <a:endParaRPr lang="en-US" sz="1200" dirty="0"/>
          </a:p>
        </p:txBody>
      </p:sp>
      <p:sp>
        <p:nvSpPr>
          <p:cNvPr id="6" name="Text 4"/>
          <p:cNvSpPr/>
          <p:nvPr/>
        </p:nvSpPr>
        <p:spPr>
          <a:xfrm>
            <a:off x="1015960" y="2308746"/>
            <a:ext cx="3113319" cy="25650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3EE"/>
                </a:solidFill>
                <a:latin typeface="JetBrains Mono" pitchFamily="49" charset="0"/>
                <a:ea typeface="JetBrains Mono" pitchFamily="49" charset="-122"/>
                <a:cs typeface="JetBrains Mono" pitchFamily="49" charset="-120"/>
              </a:rPr>
              <a:t>python3 MMAIKelompokX.py</a:t>
            </a:r>
            <a:endParaRPr lang="en-US" sz="1300" dirty="0"/>
          </a:p>
        </p:txBody>
      </p:sp>
      <p:pic>
        <p:nvPicPr>
          <p:cNvPr id="7" name="Image 0" descr="ellipse">    </p:cNvPr>
          <p:cNvPicPr>
            <a:picLocks noChangeAspect="1"/>
          </p:cNvPicPr>
          <p:nvPr/>
        </p:nvPicPr>
        <p:blipFill>
          <a:blip r:embed="rId1"/>
          <a:srcRect l="0" r="0" t="0" b="0"/>
          <a:stretch/>
        </p:blipFill>
        <p:spPr>
          <a:xfrm>
            <a:off x="812780" y="3000735"/>
            <a:ext cx="190500" cy="190500"/>
          </a:xfrm>
          <a:prstGeom prst="rect">
            <a:avLst/>
          </a:prstGeom>
        </p:spPr>
      </p:pic>
      <p:sp>
        <p:nvSpPr>
          <p:cNvPr id="8" name="Text 5"/>
          <p:cNvSpPr/>
          <p:nvPr/>
        </p:nvSpPr>
        <p:spPr>
          <a:xfrm>
            <a:off x="1130260" y="2971564"/>
            <a:ext cx="1620131"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Hijau</a:t>
            </a:r>
            <a:r>
              <a:rPr lang="en-US" sz="1400" dirty="0">
                <a:solidFill>
                  <a:srgbClr val="3E4A5C"/>
                </a:solidFill>
                <a:latin typeface="IBM Plex Sans" pitchFamily="34" charset="0"/>
                <a:ea typeface="IBM Plex Sans" pitchFamily="34" charset="-122"/>
                <a:cs typeface="IBM Plex Sans" pitchFamily="34" charset="-120"/>
              </a:rPr>
              <a:t> = titik awal</a:t>
            </a:r>
            <a:endParaRPr lang="en-US" sz="1400" dirty="0"/>
          </a:p>
        </p:txBody>
      </p:sp>
      <p:pic>
        <p:nvPicPr>
          <p:cNvPr id="9" name="Image 1" descr="ellipse">    </p:cNvPr>
          <p:cNvPicPr>
            <a:picLocks noChangeAspect="1"/>
          </p:cNvPicPr>
          <p:nvPr/>
        </p:nvPicPr>
        <p:blipFill>
          <a:blip r:embed="rId2"/>
          <a:srcRect l="0" r="0" t="0" b="0"/>
          <a:stretch/>
        </p:blipFill>
        <p:spPr>
          <a:xfrm>
            <a:off x="812780" y="3351194"/>
            <a:ext cx="190500" cy="190500"/>
          </a:xfrm>
          <a:prstGeom prst="rect">
            <a:avLst/>
          </a:prstGeom>
        </p:spPr>
      </p:pic>
      <p:sp>
        <p:nvSpPr>
          <p:cNvPr id="10" name="Text 6"/>
          <p:cNvSpPr/>
          <p:nvPr/>
        </p:nvSpPr>
        <p:spPr>
          <a:xfrm>
            <a:off x="1130260" y="3322024"/>
            <a:ext cx="1460754"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Merah</a:t>
            </a:r>
            <a:r>
              <a:rPr lang="en-US" sz="1400" dirty="0">
                <a:solidFill>
                  <a:srgbClr val="3E4A5C"/>
                </a:solidFill>
                <a:latin typeface="IBM Plex Sans" pitchFamily="34" charset="0"/>
                <a:ea typeface="IBM Plex Sans" pitchFamily="34" charset="-122"/>
                <a:cs typeface="IBM Plex Sans" pitchFamily="34" charset="-120"/>
              </a:rPr>
              <a:t> = tujuan</a:t>
            </a:r>
            <a:endParaRPr lang="en-US" sz="1400" dirty="0"/>
          </a:p>
        </p:txBody>
      </p:sp>
      <p:pic>
        <p:nvPicPr>
          <p:cNvPr id="11" name="Image 2" descr="ellipse">    </p:cNvPr>
          <p:cNvPicPr>
            <a:picLocks noChangeAspect="1"/>
          </p:cNvPicPr>
          <p:nvPr/>
        </p:nvPicPr>
        <p:blipFill>
          <a:blip r:embed="rId3"/>
          <a:srcRect l="0" r="0" t="0" b="0"/>
          <a:stretch/>
        </p:blipFill>
        <p:spPr>
          <a:xfrm>
            <a:off x="812780" y="3701653"/>
            <a:ext cx="190500" cy="190500"/>
          </a:xfrm>
          <a:prstGeom prst="rect">
            <a:avLst/>
          </a:prstGeom>
        </p:spPr>
      </p:pic>
      <p:sp>
        <p:nvSpPr>
          <p:cNvPr id="12" name="Text 7"/>
          <p:cNvSpPr/>
          <p:nvPr/>
        </p:nvSpPr>
        <p:spPr>
          <a:xfrm>
            <a:off x="1130260" y="3672483"/>
            <a:ext cx="250838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Oranye</a:t>
            </a:r>
            <a:r>
              <a:rPr lang="en-US" sz="1400" dirty="0">
                <a:solidFill>
                  <a:srgbClr val="3E4A5C"/>
                </a:solidFill>
                <a:latin typeface="IBM Plex Sans" pitchFamily="34" charset="0"/>
                <a:ea typeface="IBM Plex Sans" pitchFamily="34" charset="-122"/>
                <a:cs typeface="IBM Plex Sans" pitchFamily="34" charset="-120"/>
              </a:rPr>
              <a:t> = sedang diproses</a:t>
            </a:r>
            <a:endParaRPr lang="en-US" sz="1400" dirty="0"/>
          </a:p>
        </p:txBody>
      </p:sp>
      <p:pic>
        <p:nvPicPr>
          <p:cNvPr id="13" name="Image 3" descr="ellipse">    </p:cNvPr>
          <p:cNvPicPr>
            <a:picLocks noChangeAspect="1"/>
          </p:cNvPicPr>
          <p:nvPr/>
        </p:nvPicPr>
        <p:blipFill>
          <a:blip r:embed="rId4"/>
          <a:srcRect l="0" r="0" t="0" b="0"/>
          <a:stretch/>
        </p:blipFill>
        <p:spPr>
          <a:xfrm>
            <a:off x="812780" y="4052119"/>
            <a:ext cx="190500" cy="190500"/>
          </a:xfrm>
          <a:prstGeom prst="rect">
            <a:avLst/>
          </a:prstGeom>
        </p:spPr>
      </p:pic>
      <p:sp>
        <p:nvSpPr>
          <p:cNvPr id="14" name="Text 8"/>
          <p:cNvSpPr/>
          <p:nvPr/>
        </p:nvSpPr>
        <p:spPr>
          <a:xfrm>
            <a:off x="1130260" y="4022948"/>
            <a:ext cx="257496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Kuning</a:t>
            </a:r>
            <a:r>
              <a:rPr lang="en-US" sz="1400" dirty="0">
                <a:solidFill>
                  <a:srgbClr val="3E4A5C"/>
                </a:solidFill>
                <a:latin typeface="IBM Plex Sans" pitchFamily="34" charset="0"/>
                <a:ea typeface="IBM Plex Sans" pitchFamily="34" charset="-122"/>
                <a:cs typeface="IBM Plex Sans" pitchFamily="34" charset="-120"/>
              </a:rPr>
              <a:t> = masih menunggu</a:t>
            </a:r>
            <a:endParaRPr lang="en-US" sz="1400" dirty="0"/>
          </a:p>
        </p:txBody>
      </p:sp>
      <p:pic>
        <p:nvPicPr>
          <p:cNvPr id="15" name="Image 4" descr="ellipse">    </p:cNvPr>
          <p:cNvPicPr>
            <a:picLocks noChangeAspect="1"/>
          </p:cNvPicPr>
          <p:nvPr/>
        </p:nvPicPr>
        <p:blipFill>
          <a:blip r:embed="rId5"/>
          <a:srcRect l="0" r="0" t="0" b="0"/>
          <a:stretch/>
        </p:blipFill>
        <p:spPr>
          <a:xfrm>
            <a:off x="812780" y="4402578"/>
            <a:ext cx="190500" cy="190500"/>
          </a:xfrm>
          <a:prstGeom prst="rect">
            <a:avLst/>
          </a:prstGeom>
        </p:spPr>
      </p:pic>
      <p:sp>
        <p:nvSpPr>
          <p:cNvPr id="16" name="Text 9"/>
          <p:cNvSpPr/>
          <p:nvPr/>
        </p:nvSpPr>
        <p:spPr>
          <a:xfrm>
            <a:off x="1130260" y="4373407"/>
            <a:ext cx="2566249"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Biru muda</a:t>
            </a:r>
            <a:r>
              <a:rPr lang="en-US" sz="1400" dirty="0">
                <a:solidFill>
                  <a:srgbClr val="3E4A5C"/>
                </a:solidFill>
                <a:latin typeface="IBM Plex Sans" pitchFamily="34" charset="0"/>
                <a:ea typeface="IBM Plex Sans" pitchFamily="34" charset="-122"/>
                <a:cs typeface="IBM Plex Sans" pitchFamily="34" charset="-120"/>
              </a:rPr>
              <a:t> = sudah selesai</a:t>
            </a:r>
            <a:endParaRPr lang="en-US" sz="1400" dirty="0"/>
          </a:p>
        </p:txBody>
      </p:sp>
      <p:pic>
        <p:nvPicPr>
          <p:cNvPr id="17" name="Image 5" descr="ellipse">    </p:cNvPr>
          <p:cNvPicPr>
            <a:picLocks noChangeAspect="1"/>
          </p:cNvPicPr>
          <p:nvPr/>
        </p:nvPicPr>
        <p:blipFill>
          <a:blip r:embed="rId6"/>
          <a:srcRect l="0" r="0" t="0" b="0"/>
          <a:stretch/>
        </p:blipFill>
        <p:spPr>
          <a:xfrm>
            <a:off x="812780" y="4753037"/>
            <a:ext cx="190500" cy="190500"/>
          </a:xfrm>
          <a:prstGeom prst="rect">
            <a:avLst/>
          </a:prstGeom>
        </p:spPr>
      </p:pic>
      <p:sp>
        <p:nvSpPr>
          <p:cNvPr id="18" name="Text 10"/>
          <p:cNvSpPr/>
          <p:nvPr/>
        </p:nvSpPr>
        <p:spPr>
          <a:xfrm>
            <a:off x="1130260" y="4723867"/>
            <a:ext cx="2766774"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Garis ungu</a:t>
            </a:r>
            <a:r>
              <a:rPr lang="en-US" sz="1400" dirty="0">
                <a:solidFill>
                  <a:srgbClr val="3E4A5C"/>
                </a:solidFill>
                <a:latin typeface="IBM Plex Sans" pitchFamily="34" charset="0"/>
                <a:ea typeface="IBM Plex Sans" pitchFamily="34" charset="-122"/>
                <a:cs typeface="IBM Plex Sans" pitchFamily="34" charset="-120"/>
              </a:rPr>
              <a:t> = jalur terpendek</a:t>
            </a:r>
            <a:endParaRPr lang="en-US" sz="1400" dirty="0"/>
          </a:p>
        </p:txBody>
      </p:sp>
      <p:sp>
        <p:nvSpPr>
          <p:cNvPr id="19" name="Shape 11"/>
          <p:cNvSpPr/>
          <p:nvPr/>
        </p:nvSpPr>
        <p:spPr>
          <a:xfrm>
            <a:off x="4648141" y="1854163"/>
            <a:ext cx="6730960" cy="3841730"/>
          </a:xfrm>
          <a:prstGeom prst="roundRect">
            <a:avLst>
              <a:gd name="adj" fmla="val 1983"/>
            </a:avLst>
          </a:prstGeom>
          <a:solidFill>
            <a:srgbClr val="F7F9FC"/>
          </a:solidFill>
          <a:ln/>
        </p:spPr>
      </p:sp>
      <p:pic>
        <p:nvPicPr>
          <p:cNvPr id="20" name="Image 6" descr="Tampilan program saat Dijkstra sedang berjalan: V4 berwarna oranye, beberapa simpul kuning dan biru muda">    </p:cNvPr>
          <p:cNvPicPr>
            <a:picLocks noChangeAspect="1"/>
          </p:cNvPicPr>
          <p:nvPr/>
        </p:nvPicPr>
        <p:blipFill>
          <a:blip r:embed="rId7"/>
          <a:srcRect l="-80" r="-80" t="0" b="0"/>
          <a:stretch/>
        </p:blipFill>
        <p:spPr>
          <a:xfrm>
            <a:off x="4654491" y="1860513"/>
            <a:ext cx="6718260" cy="3829030"/>
          </a:xfrm>
          <a:prstGeom prst="roundRect">
            <a:avLst>
              <a:gd name="adj" fmla="val 1824"/>
            </a:avLst>
          </a:prstGeom>
        </p:spPr>
      </p:pic>
      <p:sp>
        <p:nvSpPr>
          <p:cNvPr id="21" name="Shape 12"/>
          <p:cNvSpPr/>
          <p:nvPr/>
        </p:nvSpPr>
        <p:spPr>
          <a:xfrm>
            <a:off x="4651316" y="1857338"/>
            <a:ext cx="6724610" cy="3835380"/>
          </a:xfrm>
          <a:prstGeom prst="roundRect">
            <a:avLst>
              <a:gd name="adj" fmla="val 1904"/>
            </a:avLst>
          </a:prstGeom>
          <a:noFill/>
          <a:ln w="6350">
            <a:solidFill>
              <a:srgbClr val="DDD8CC"/>
            </a:solidFill>
            <a:prstDash val="solid"/>
          </a:ln>
        </p:spPr>
      </p:sp>
      <p:sp>
        <p:nvSpPr>
          <p:cNvPr id="22" name="Text 13"/>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3 · [Nama 3]</a:t>
            </a:r>
            <a:endParaRPr lang="en-US" sz="1200" dirty="0"/>
          </a:p>
        </p:txBody>
      </p:sp>
      <p:sp>
        <p:nvSpPr>
          <p:cNvPr id="23" name="Text 14"/>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SOLUSI · HASIL INPUT A</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Jalur terpendek V1 → V15 ditemukan</a:t>
            </a:r>
            <a:endParaRPr lang="en-US" sz="3200" dirty="0"/>
          </a:p>
        </p:txBody>
      </p:sp>
      <p:sp>
        <p:nvSpPr>
          <p:cNvPr id="4" name="Shape 2"/>
          <p:cNvSpPr/>
          <p:nvPr/>
        </p:nvSpPr>
        <p:spPr>
          <a:xfrm>
            <a:off x="812780" y="1854163"/>
            <a:ext cx="6349960" cy="3625810"/>
          </a:xfrm>
          <a:prstGeom prst="roundRect">
            <a:avLst>
              <a:gd name="adj" fmla="val 2102"/>
            </a:avLst>
          </a:prstGeom>
          <a:solidFill>
            <a:srgbClr val="F7F9FC"/>
          </a:solidFill>
          <a:ln/>
        </p:spPr>
      </p:sp>
      <p:pic>
        <p:nvPicPr>
          <p:cNvPr id="5" name="Image 0" descr="Hasil akhir Dijkstra: jalur ungu V1, V2, V5, V9, V12, V15 dengan jarak final 505 di V15">    </p:cNvPr>
          <p:cNvPicPr>
            <a:picLocks noChangeAspect="1"/>
          </p:cNvPicPr>
          <p:nvPr/>
        </p:nvPicPr>
        <p:blipFill>
          <a:blip r:embed="rId1"/>
          <a:srcRect l="-63" r="-63" t="0" b="0"/>
          <a:stretch/>
        </p:blipFill>
        <p:spPr>
          <a:xfrm>
            <a:off x="819130" y="1860513"/>
            <a:ext cx="6337260" cy="3613110"/>
          </a:xfrm>
          <a:prstGeom prst="roundRect">
            <a:avLst>
              <a:gd name="adj" fmla="val 1933"/>
            </a:avLst>
          </a:prstGeom>
        </p:spPr>
      </p:pic>
      <p:sp>
        <p:nvSpPr>
          <p:cNvPr id="6" name="Shape 3"/>
          <p:cNvSpPr/>
          <p:nvPr/>
        </p:nvSpPr>
        <p:spPr>
          <a:xfrm>
            <a:off x="815955" y="1857338"/>
            <a:ext cx="6343610" cy="3619460"/>
          </a:xfrm>
          <a:prstGeom prst="roundRect">
            <a:avLst>
              <a:gd name="adj" fmla="val 2018"/>
            </a:avLst>
          </a:prstGeom>
          <a:noFill/>
          <a:ln w="6350">
            <a:solidFill>
              <a:srgbClr val="DDD8CC"/>
            </a:solidFill>
            <a:prstDash val="solid"/>
          </a:ln>
        </p:spPr>
      </p:sp>
      <p:sp>
        <p:nvSpPr>
          <p:cNvPr id="7" name="Text 4"/>
          <p:cNvSpPr/>
          <p:nvPr/>
        </p:nvSpPr>
        <p:spPr>
          <a:xfrm>
            <a:off x="7569101" y="1854163"/>
            <a:ext cx="392442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JALUR TERPENDEK</a:t>
            </a:r>
            <a:endParaRPr lang="en-US" sz="1200" dirty="0"/>
          </a:p>
        </p:txBody>
      </p:sp>
      <p:sp>
        <p:nvSpPr>
          <p:cNvPr id="8" name="Text 5"/>
          <p:cNvSpPr/>
          <p:nvPr/>
        </p:nvSpPr>
        <p:spPr>
          <a:xfrm>
            <a:off x="7569101" y="2118302"/>
            <a:ext cx="392442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33B"/>
                </a:solidFill>
                <a:latin typeface="JetBrains Mono" pitchFamily="49" charset="0"/>
                <a:ea typeface="JetBrains Mono" pitchFamily="49" charset="-122"/>
                <a:cs typeface="JetBrains Mono" pitchFamily="49" charset="-120"/>
              </a:rPr>
              <a:t>V1 → V2 → V5 → V9 → V12 → V15</a:t>
            </a:r>
            <a:endParaRPr lang="en-US" sz="1500" dirty="0"/>
          </a:p>
        </p:txBody>
      </p:sp>
      <p:sp>
        <p:nvSpPr>
          <p:cNvPr id="9" name="Text 6"/>
          <p:cNvSpPr/>
          <p:nvPr/>
        </p:nvSpPr>
        <p:spPr>
          <a:xfrm>
            <a:off x="7569101" y="2562765"/>
            <a:ext cx="392442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BOBOT MINIMUM</a:t>
            </a:r>
            <a:endParaRPr lang="en-US" sz="1200" dirty="0"/>
          </a:p>
        </p:txBody>
      </p:sp>
      <p:sp>
        <p:nvSpPr>
          <p:cNvPr id="10" name="Text 7"/>
          <p:cNvSpPr/>
          <p:nvPr/>
        </p:nvSpPr>
        <p:spPr>
          <a:xfrm>
            <a:off x="7569101" y="2776122"/>
            <a:ext cx="3924423"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6D35D6"/>
                </a:solidFill>
                <a:latin typeface="Space Grotesk" pitchFamily="34" charset="0"/>
                <a:ea typeface="Space Grotesk" pitchFamily="34" charset="-122"/>
                <a:cs typeface="Space Grotesk" pitchFamily="34" charset="-120"/>
              </a:rPr>
              <a:t>505</a:t>
            </a:r>
            <a:endParaRPr lang="en-US" sz="6000" dirty="0"/>
          </a:p>
        </p:txBody>
      </p:sp>
      <p:sp>
        <p:nvSpPr>
          <p:cNvPr id="11" name="Text 8"/>
          <p:cNvSpPr/>
          <p:nvPr/>
        </p:nvSpPr>
        <p:spPr>
          <a:xfrm>
            <a:off x="7569101" y="3792085"/>
            <a:ext cx="3924423" cy="7721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Sama untuk Dijkstra dan A*, dan sesuai contoh output di soal. Waktu runtime tampil di panel kanan program.</a:t>
            </a:r>
            <a:endParaRPr lang="en-US" sz="1400" dirty="0"/>
          </a:p>
        </p:txBody>
      </p:sp>
      <p:sp>
        <p:nvSpPr>
          <p:cNvPr id="12" name="Text 9"/>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3 · [Nama 3]</a:t>
            </a:r>
            <a:endParaRPr lang="en-US" sz="1200" dirty="0"/>
          </a:p>
        </p:txBody>
      </p:sp>
      <p:sp>
        <p:nvSpPr>
          <p:cNvPr id="13" name="Text 10"/>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ANALISIS · INPUT A</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Bobot sama (505), proses berbeda</a:t>
            </a:r>
            <a:endParaRPr lang="en-US" sz="3200" dirty="0"/>
          </a:p>
        </p:txBody>
      </p:sp>
      <p:sp>
        <p:nvSpPr>
          <p:cNvPr id="4" name="Text 2"/>
          <p:cNvSpPr/>
          <p:nvPr/>
        </p:nvSpPr>
        <p:spPr>
          <a:xfrm>
            <a:off x="8127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Dijkstra</a:t>
            </a:r>
            <a:endParaRPr lang="en-US" sz="2000" dirty="0"/>
          </a:p>
        </p:txBody>
      </p:sp>
      <p:sp>
        <p:nvSpPr>
          <p:cNvPr id="5" name="Text 3"/>
          <p:cNvSpPr/>
          <p:nvPr/>
        </p:nvSpPr>
        <p:spPr>
          <a:xfrm>
            <a:off x="8127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12 dari 15</a:t>
            </a:r>
            <a:r>
              <a:rPr lang="en-US" sz="1400" dirty="0">
                <a:solidFill>
                  <a:srgbClr val="3E4A5C"/>
                </a:solidFill>
                <a:latin typeface="IBM Plex Sans" pitchFamily="34" charset="0"/>
                <a:ea typeface="IBM Plex Sans" pitchFamily="34" charset="-122"/>
                <a:cs typeface="IBM Plex Sans" pitchFamily="34" charset="-120"/>
              </a:rPr>
              <a:t> simpul diperluas · 16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±9 µs</a:t>
            </a:r>
            <a:endParaRPr lang="en-US" sz="1400" dirty="0"/>
          </a:p>
        </p:txBody>
      </p:sp>
      <p:sp>
        <p:nvSpPr>
          <p:cNvPr id="6" name="Shape 4"/>
          <p:cNvSpPr/>
          <p:nvPr/>
        </p:nvSpPr>
        <p:spPr>
          <a:xfrm>
            <a:off x="812780" y="2809156"/>
            <a:ext cx="4825960" cy="2755880"/>
          </a:xfrm>
          <a:prstGeom prst="roundRect">
            <a:avLst>
              <a:gd name="adj" fmla="val 2765"/>
            </a:avLst>
          </a:prstGeom>
          <a:solidFill>
            <a:srgbClr val="F7F9FC"/>
          </a:solidFill>
          <a:ln/>
        </p:spPr>
      </p:sp>
      <p:pic>
        <p:nvPicPr>
          <p:cNvPr id="7" name="Image 0" descr="Dijkstra: 12 simpul biru muda (diperluas), termasuk V3, V6, V7, V8, V10">    </p:cNvPr>
          <p:cNvPicPr>
            <a:picLocks noChangeAspect="1"/>
          </p:cNvPicPr>
          <p:nvPr/>
        </p:nvPicPr>
        <p:blipFill>
          <a:blip r:embed="rId1"/>
          <a:srcRect l="-82" r="-82" t="0" b="0"/>
          <a:stretch/>
        </p:blipFill>
        <p:spPr>
          <a:xfrm>
            <a:off x="819130" y="2815506"/>
            <a:ext cx="4813260" cy="2743180"/>
          </a:xfrm>
          <a:prstGeom prst="roundRect">
            <a:avLst>
              <a:gd name="adj" fmla="val 2546"/>
            </a:avLst>
          </a:prstGeom>
        </p:spPr>
      </p:pic>
      <p:sp>
        <p:nvSpPr>
          <p:cNvPr id="8" name="Shape 5"/>
          <p:cNvSpPr/>
          <p:nvPr/>
        </p:nvSpPr>
        <p:spPr>
          <a:xfrm>
            <a:off x="815955" y="2812331"/>
            <a:ext cx="4819610" cy="2749530"/>
          </a:xfrm>
          <a:prstGeom prst="roundRect">
            <a:avLst>
              <a:gd name="adj" fmla="val 2656"/>
            </a:avLst>
          </a:prstGeom>
          <a:noFill/>
          <a:ln w="6350">
            <a:solidFill>
              <a:srgbClr val="DDD8CC"/>
            </a:solidFill>
            <a:prstDash val="solid"/>
          </a:ln>
        </p:spPr>
      </p:sp>
      <p:sp>
        <p:nvSpPr>
          <p:cNvPr id="9" name="Text 6"/>
          <p:cNvSpPr/>
          <p:nvPr/>
        </p:nvSpPr>
        <p:spPr>
          <a:xfrm>
            <a:off x="62991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A*</a:t>
            </a:r>
            <a:endParaRPr lang="en-US" sz="2000" dirty="0"/>
          </a:p>
        </p:txBody>
      </p:sp>
      <p:sp>
        <p:nvSpPr>
          <p:cNvPr id="10" name="Text 7"/>
          <p:cNvSpPr/>
          <p:nvPr/>
        </p:nvSpPr>
        <p:spPr>
          <a:xfrm>
            <a:off x="62991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7 dari 15</a:t>
            </a:r>
            <a:r>
              <a:rPr lang="en-US" sz="1400" dirty="0">
                <a:solidFill>
                  <a:srgbClr val="3E4A5C"/>
                </a:solidFill>
                <a:latin typeface="IBM Plex Sans" pitchFamily="34" charset="0"/>
                <a:ea typeface="IBM Plex Sans" pitchFamily="34" charset="-122"/>
                <a:cs typeface="IBM Plex Sans" pitchFamily="34" charset="-120"/>
              </a:rPr>
              <a:t> simpul diperluas · 9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±19 µs (±2× lebih lambat)</a:t>
            </a:r>
            <a:endParaRPr lang="en-US" sz="1400" dirty="0"/>
          </a:p>
        </p:txBody>
      </p:sp>
      <p:sp>
        <p:nvSpPr>
          <p:cNvPr id="11" name="Shape 8"/>
          <p:cNvSpPr/>
          <p:nvPr/>
        </p:nvSpPr>
        <p:spPr>
          <a:xfrm>
            <a:off x="6299180" y="2809156"/>
            <a:ext cx="4825960" cy="2755880"/>
          </a:xfrm>
          <a:prstGeom prst="roundRect">
            <a:avLst>
              <a:gd name="adj" fmla="val 2765"/>
            </a:avLst>
          </a:prstGeom>
          <a:solidFill>
            <a:srgbClr val="F7F9FC"/>
          </a:solidFill>
          <a:ln/>
        </p:spPr>
      </p:sp>
      <p:pic>
        <p:nvPicPr>
          <p:cNvPr id="12" name="Image 1" descr="A*: hanya 7 simpul biru muda di sepanjang jalur, simpul lain tidak disentuh">    </p:cNvPr>
          <p:cNvPicPr>
            <a:picLocks noChangeAspect="1"/>
          </p:cNvPicPr>
          <p:nvPr/>
        </p:nvPicPr>
        <p:blipFill>
          <a:blip r:embed="rId2"/>
          <a:srcRect l="-82" r="-82" t="0" b="0"/>
          <a:stretch/>
        </p:blipFill>
        <p:spPr>
          <a:xfrm>
            <a:off x="6305530" y="2815506"/>
            <a:ext cx="4813260" cy="2743180"/>
          </a:xfrm>
          <a:prstGeom prst="roundRect">
            <a:avLst>
              <a:gd name="adj" fmla="val 2546"/>
            </a:avLst>
          </a:prstGeom>
        </p:spPr>
      </p:pic>
      <p:sp>
        <p:nvSpPr>
          <p:cNvPr id="13" name="Shape 9"/>
          <p:cNvSpPr/>
          <p:nvPr/>
        </p:nvSpPr>
        <p:spPr>
          <a:xfrm>
            <a:off x="6302355" y="2812331"/>
            <a:ext cx="4819610" cy="2749530"/>
          </a:xfrm>
          <a:prstGeom prst="roundRect">
            <a:avLst>
              <a:gd name="adj" fmla="val 2656"/>
            </a:avLst>
          </a:prstGeom>
          <a:noFill/>
          <a:ln w="6350">
            <a:solidFill>
              <a:srgbClr val="DDD8CC"/>
            </a:solidFill>
            <a:prstDash val="solid"/>
          </a:ln>
        </p:spPr>
      </p:sp>
      <p:sp>
        <p:nvSpPr>
          <p:cNvPr id="14" name="Text 10"/>
          <p:cNvSpPr/>
          <p:nvPr/>
        </p:nvSpPr>
        <p:spPr>
          <a:xfrm>
            <a:off x="812780" y="6235774"/>
            <a:ext cx="4687800"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 · waktu berbeda di tiap komputer</a:t>
            </a:r>
            <a:endParaRPr lang="en-US" sz="1200" dirty="0"/>
          </a:p>
        </p:txBody>
      </p:sp>
      <p:sp>
        <p:nvSpPr>
          <p:cNvPr id="15" name="Text 11"/>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PENGUJIAN LANJUTAN</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Input B dan C: tanpa mengubah kode</a:t>
            </a:r>
            <a:endParaRPr lang="en-US" sz="3200" dirty="0"/>
          </a:p>
        </p:txBody>
      </p:sp>
      <p:sp>
        <p:nvSpPr>
          <p:cNvPr id="4" name="Shape 2"/>
          <p:cNvSpPr/>
          <p:nvPr/>
        </p:nvSpPr>
        <p:spPr>
          <a:xfrm>
            <a:off x="815955" y="1857332"/>
            <a:ext cx="5175250" cy="2315012"/>
          </a:xfrm>
          <a:prstGeom prst="roundRect">
            <a:avLst>
              <a:gd name="adj" fmla="val 5349"/>
            </a:avLst>
          </a:prstGeom>
          <a:solidFill>
            <a:srgbClr val="FFFDF8"/>
          </a:solidFill>
          <a:ln w="6350">
            <a:solidFill>
              <a:srgbClr val="DDD8CC"/>
            </a:solidFill>
            <a:prstDash val="solid"/>
          </a:ln>
        </p:spPr>
      </p:sp>
      <p:sp>
        <p:nvSpPr>
          <p:cNvPr id="5" name="Text 3"/>
          <p:cNvSpPr/>
          <p:nvPr/>
        </p:nvSpPr>
        <p:spPr>
          <a:xfrm>
            <a:off x="1121390" y="2162770"/>
            <a:ext cx="470131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INPUT B · V1 KE V10</a:t>
            </a:r>
            <a:endParaRPr lang="en-US" sz="1200" dirty="0"/>
          </a:p>
        </p:txBody>
      </p:sp>
      <p:sp>
        <p:nvSpPr>
          <p:cNvPr id="6" name="Text 4"/>
          <p:cNvSpPr/>
          <p:nvPr/>
        </p:nvSpPr>
        <p:spPr>
          <a:xfrm>
            <a:off x="1121390" y="2477691"/>
            <a:ext cx="4701312" cy="30984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233B"/>
                </a:solidFill>
                <a:latin typeface="JetBrains Mono" pitchFamily="49" charset="0"/>
                <a:ea typeface="JetBrains Mono" pitchFamily="49" charset="-122"/>
                <a:cs typeface="JetBrains Mono" pitchFamily="49" charset="-120"/>
              </a:rPr>
              <a:t>V1 → V4 → V6 → V10</a:t>
            </a:r>
            <a:endParaRPr lang="en-US" sz="1600" dirty="0"/>
          </a:p>
        </p:txBody>
      </p:sp>
      <p:sp>
        <p:nvSpPr>
          <p:cNvPr id="7" name="Text 5"/>
          <p:cNvSpPr/>
          <p:nvPr/>
        </p:nvSpPr>
        <p:spPr>
          <a:xfrm>
            <a:off x="1121390" y="2863689"/>
            <a:ext cx="1304746"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6D35D6"/>
                </a:solidFill>
                <a:latin typeface="Space Grotesk" pitchFamily="34" charset="0"/>
                <a:ea typeface="Space Grotesk" pitchFamily="34" charset="-122"/>
                <a:cs typeface="Space Grotesk" pitchFamily="34" charset="-120"/>
              </a:rPr>
              <a:t>400</a:t>
            </a:r>
            <a:endParaRPr lang="en-US" sz="4800" dirty="0"/>
          </a:p>
        </p:txBody>
      </p:sp>
      <p:sp>
        <p:nvSpPr>
          <p:cNvPr id="8" name="Text 6"/>
          <p:cNvSpPr/>
          <p:nvPr/>
        </p:nvSpPr>
        <p:spPr>
          <a:xfrm>
            <a:off x="2426137" y="3218018"/>
            <a:ext cx="1519333"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bobot minimum</a:t>
            </a:r>
            <a:endParaRPr lang="en-US" sz="1400" dirty="0"/>
          </a:p>
        </p:txBody>
      </p:sp>
      <p:pic>
        <p:nvPicPr>
          <p:cNvPr id="9" name="Image 0" descr="CheckCircle">    </p:cNvPr>
          <p:cNvPicPr>
            <a:picLocks noChangeAspect="1"/>
          </p:cNvPicPr>
          <p:nvPr/>
        </p:nvPicPr>
        <p:blipFill>
          <a:blip r:embed="rId1"/>
          <a:srcRect l="0" r="0" t="0" b="0"/>
          <a:stretch/>
        </p:blipFill>
        <p:spPr>
          <a:xfrm>
            <a:off x="1121390" y="3649737"/>
            <a:ext cx="203180" cy="203180"/>
          </a:xfrm>
          <a:prstGeom prst="rect">
            <a:avLst/>
          </a:prstGeom>
        </p:spPr>
      </p:pic>
      <p:sp>
        <p:nvSpPr>
          <p:cNvPr id="10" name="Text 7"/>
          <p:cNvSpPr/>
          <p:nvPr/>
        </p:nvSpPr>
        <p:spPr>
          <a:xfrm>
            <a:off x="1400770" y="3635809"/>
            <a:ext cx="2299645" cy="2565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E7D4F"/>
                </a:solidFill>
                <a:latin typeface="IBM Plex Sans" pitchFamily="34" charset="0"/>
                <a:ea typeface="IBM Plex Sans" pitchFamily="34" charset="-122"/>
                <a:cs typeface="IBM Plex Sans" pitchFamily="34" charset="-120"/>
              </a:rPr>
              <a:t>Sesuai contoh output soal</a:t>
            </a:r>
            <a:endParaRPr lang="en-US" sz="1300" dirty="0"/>
          </a:p>
        </p:txBody>
      </p:sp>
      <p:sp>
        <p:nvSpPr>
          <p:cNvPr id="11" name="Shape 8"/>
          <p:cNvSpPr/>
          <p:nvPr/>
        </p:nvSpPr>
        <p:spPr>
          <a:xfrm>
            <a:off x="6200735" y="1857332"/>
            <a:ext cx="5175310" cy="2315012"/>
          </a:xfrm>
          <a:prstGeom prst="roundRect">
            <a:avLst>
              <a:gd name="adj" fmla="val 5349"/>
            </a:avLst>
          </a:prstGeom>
          <a:solidFill>
            <a:srgbClr val="FFFDF8"/>
          </a:solidFill>
          <a:ln w="6350">
            <a:solidFill>
              <a:srgbClr val="DDD8CC"/>
            </a:solidFill>
            <a:prstDash val="solid"/>
          </a:ln>
        </p:spPr>
      </p:sp>
      <p:sp>
        <p:nvSpPr>
          <p:cNvPr id="12" name="Text 9"/>
          <p:cNvSpPr/>
          <p:nvPr/>
        </p:nvSpPr>
        <p:spPr>
          <a:xfrm>
            <a:off x="6506170" y="2162770"/>
            <a:ext cx="470137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INPUT C · B KE H</a:t>
            </a:r>
            <a:endParaRPr lang="en-US" sz="1200" dirty="0"/>
          </a:p>
        </p:txBody>
      </p:sp>
      <p:sp>
        <p:nvSpPr>
          <p:cNvPr id="13" name="Text 10"/>
          <p:cNvSpPr/>
          <p:nvPr/>
        </p:nvSpPr>
        <p:spPr>
          <a:xfrm>
            <a:off x="6506170" y="2477691"/>
            <a:ext cx="4701373" cy="30984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233B"/>
                </a:solidFill>
                <a:latin typeface="JetBrains Mono" pitchFamily="49" charset="0"/>
                <a:ea typeface="JetBrains Mono" pitchFamily="49" charset="-122"/>
                <a:cs typeface="JetBrains Mono" pitchFamily="49" charset="-120"/>
              </a:rPr>
              <a:t>B → C → F → E → H</a:t>
            </a:r>
            <a:endParaRPr lang="en-US" sz="1600" dirty="0"/>
          </a:p>
        </p:txBody>
      </p:sp>
      <p:sp>
        <p:nvSpPr>
          <p:cNvPr id="14" name="Text 11"/>
          <p:cNvSpPr/>
          <p:nvPr/>
        </p:nvSpPr>
        <p:spPr>
          <a:xfrm>
            <a:off x="6506170" y="2863689"/>
            <a:ext cx="452128"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6D35D6"/>
                </a:solidFill>
                <a:latin typeface="Space Grotesk" pitchFamily="34" charset="0"/>
                <a:ea typeface="Space Grotesk" pitchFamily="34" charset="-122"/>
                <a:cs typeface="Space Grotesk" pitchFamily="34" charset="-120"/>
              </a:rPr>
              <a:t>9</a:t>
            </a:r>
            <a:endParaRPr lang="en-US" sz="4800" dirty="0"/>
          </a:p>
        </p:txBody>
      </p:sp>
      <p:sp>
        <p:nvSpPr>
          <p:cNvPr id="15" name="Text 12"/>
          <p:cNvSpPr/>
          <p:nvPr/>
        </p:nvSpPr>
        <p:spPr>
          <a:xfrm>
            <a:off x="7009924" y="3218018"/>
            <a:ext cx="1519333"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bobot minimum</a:t>
            </a:r>
            <a:endParaRPr lang="en-US" sz="1400" dirty="0"/>
          </a:p>
        </p:txBody>
      </p:sp>
      <p:pic>
        <p:nvPicPr>
          <p:cNvPr id="16" name="Image 1" descr="CheckCircle">    </p:cNvPr>
          <p:cNvPicPr>
            <a:picLocks noChangeAspect="1"/>
          </p:cNvPicPr>
          <p:nvPr/>
        </p:nvPicPr>
        <p:blipFill>
          <a:blip r:embed="rId2"/>
          <a:srcRect l="0" r="0" t="0" b="0"/>
          <a:stretch/>
        </p:blipFill>
        <p:spPr>
          <a:xfrm>
            <a:off x="6506170" y="3649737"/>
            <a:ext cx="203180" cy="203180"/>
          </a:xfrm>
          <a:prstGeom prst="rect">
            <a:avLst/>
          </a:prstGeom>
        </p:spPr>
      </p:pic>
      <p:sp>
        <p:nvSpPr>
          <p:cNvPr id="17" name="Text 13"/>
          <p:cNvSpPr/>
          <p:nvPr/>
        </p:nvSpPr>
        <p:spPr>
          <a:xfrm>
            <a:off x="6785551" y="3635809"/>
            <a:ext cx="2299645" cy="2565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E7D4F"/>
                </a:solidFill>
                <a:latin typeface="IBM Plex Sans" pitchFamily="34" charset="0"/>
                <a:ea typeface="IBM Plex Sans" pitchFamily="34" charset="-122"/>
                <a:cs typeface="IBM Plex Sans" pitchFamily="34" charset="-120"/>
              </a:rPr>
              <a:t>Sesuai contoh output soal</a:t>
            </a:r>
            <a:endParaRPr lang="en-US" sz="1300" dirty="0"/>
          </a:p>
        </p:txBody>
      </p:sp>
      <p:sp>
        <p:nvSpPr>
          <p:cNvPr id="18" name="Text 14"/>
          <p:cNvSpPr/>
          <p:nvPr/>
        </p:nvSpPr>
        <p:spPr>
          <a:xfrm>
            <a:off x="812780" y="4480322"/>
            <a:ext cx="10883434"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Cukup buat file graf baru, lalu buka lewat tombol </a:t>
            </a:r>
            <a:r>
              <a:rPr lang="en-US" sz="1400" b="1" dirty="0">
                <a:solidFill>
                  <a:srgbClr val="3E4A5C"/>
                </a:solidFill>
                <a:latin typeface="IBM Plex Sans" pitchFamily="34" charset="0"/>
                <a:ea typeface="IBM Plex Sans" pitchFamily="34" charset="-122"/>
                <a:cs typeface="IBM Plex Sans" pitchFamily="34" charset="-120"/>
              </a:rPr>
              <a:t>Buka file graf…</a:t>
            </a:r>
            <a:r>
              <a:rPr lang="en-US" sz="1400" dirty="0">
                <a:solidFill>
                  <a:srgbClr val="3E4A5C"/>
                </a:solidFill>
                <a:latin typeface="IBM Plex Sans" pitchFamily="34" charset="0"/>
                <a:ea typeface="IBM Plex Sans" pitchFamily="34" charset="-122"/>
                <a:cs typeface="IBM Plex Sans" pitchFamily="34" charset="-120"/>
              </a:rPr>
              <a:t> atau jalankan </a:t>
            </a:r>
            <a:r>
              <a:rPr lang="en-US" sz="1400" dirty="0">
                <a:solidFill>
                  <a:srgbClr val="6D35D6"/>
                </a:solidFill>
                <a:latin typeface="IBM Plex Sans" pitchFamily="34" charset="0"/>
                <a:ea typeface="IBM Plex Sans" pitchFamily="34" charset="-122"/>
                <a:cs typeface="IBM Plex Sans" pitchFamily="34" charset="-120"/>
              </a:rPr>
              <a:t>python3 MMAIKelompokX.py graf_B.txt</a:t>
            </a:r>
            <a:r>
              <a:rPr lang="en-US" sz="1400" dirty="0">
                <a:solidFill>
                  <a:srgbClr val="3E4A5C"/>
                </a:solidFill>
                <a:latin typeface="IBM Plex Sans" pitchFamily="34" charset="0"/>
                <a:ea typeface="IBM Plex Sans" pitchFamily="34" charset="-122"/>
                <a:cs typeface="IBM Plex Sans" pitchFamily="34" charset="-120"/>
              </a:rPr>
              <a:t>.</a:t>
            </a:r>
            <a:endParaRPr lang="en-US" sz="1400" dirty="0"/>
          </a:p>
        </p:txBody>
      </p:sp>
      <p:sp>
        <p:nvSpPr>
          <p:cNvPr id="19" name="Text 15"/>
          <p:cNvSpPr/>
          <p:nvPr/>
        </p:nvSpPr>
        <p:spPr>
          <a:xfrm>
            <a:off x="812780" y="6235774"/>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a:t>
            </a:r>
            <a:endParaRPr lang="en-US" sz="1200" dirty="0"/>
          </a:p>
        </p:txBody>
      </p:sp>
      <p:sp>
        <p:nvSpPr>
          <p:cNvPr id="20" name="Text 16"/>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B1F86"/>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A65A"/>
                </a:solidFill>
                <a:latin typeface="IBM Plex Sans" pitchFamily="34" charset="0"/>
                <a:ea typeface="IBM Plex Sans" pitchFamily="34" charset="-122"/>
                <a:cs typeface="IBM Plex Sans" pitchFamily="34" charset="-120"/>
              </a:rPr>
              <a:t>KESIMPULAN</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5F3EE"/>
                </a:solidFill>
                <a:latin typeface="Space Grotesk" pitchFamily="34" charset="0"/>
                <a:ea typeface="Space Grotesk" pitchFamily="34" charset="-122"/>
                <a:cs typeface="Space Grotesk" pitchFamily="34" charset="-120"/>
              </a:rPr>
              <a:t>Tiga kesimpulan dari proyek ini</a:t>
            </a:r>
            <a:endParaRPr lang="en-US" sz="3200" dirty="0"/>
          </a:p>
        </p:txBody>
      </p:sp>
      <p:sp>
        <p:nvSpPr>
          <p:cNvPr id="4" name="Shape 2"/>
          <p:cNvSpPr/>
          <p:nvPr/>
        </p:nvSpPr>
        <p:spPr>
          <a:xfrm>
            <a:off x="812780" y="1965244"/>
            <a:ext cx="3318927" cy="0"/>
          </a:xfrm>
          <a:prstGeom prst="line">
            <a:avLst/>
          </a:prstGeom>
          <a:noFill/>
          <a:ln w="19050">
            <a:solidFill>
              <a:srgbClr val="8F6AE8"/>
            </a:solidFill>
            <a:prstDash val="solid"/>
          </a:ln>
        </p:spPr>
      </p:sp>
      <p:sp>
        <p:nvSpPr>
          <p:cNvPr id="5" name="Text 3"/>
          <p:cNvSpPr/>
          <p:nvPr/>
        </p:nvSpPr>
        <p:spPr>
          <a:xfrm>
            <a:off x="812780" y="2177951"/>
            <a:ext cx="3418495"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C9B5FA"/>
                </a:solidFill>
                <a:latin typeface="Space Grotesk" pitchFamily="34" charset="0"/>
                <a:ea typeface="Space Grotesk" pitchFamily="34" charset="-122"/>
                <a:cs typeface="Space Grotesk" pitchFamily="34" charset="-120"/>
              </a:rPr>
              <a:t>1</a:t>
            </a:r>
            <a:endParaRPr lang="en-US" sz="4800" dirty="0"/>
          </a:p>
        </p:txBody>
      </p:sp>
      <p:sp>
        <p:nvSpPr>
          <p:cNvPr id="6" name="Text 4"/>
          <p:cNvSpPr/>
          <p:nvPr/>
        </p:nvSpPr>
        <p:spPr>
          <a:xfrm>
            <a:off x="812780" y="2889107"/>
            <a:ext cx="341849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3EE"/>
                </a:solidFill>
                <a:latin typeface="Space Grotesk" pitchFamily="34" charset="0"/>
                <a:ea typeface="Space Grotesk" pitchFamily="34" charset="-122"/>
                <a:cs typeface="Space Grotesk" pitchFamily="34" charset="-120"/>
              </a:rPr>
              <a:t>Keduanya optimal</a:t>
            </a:r>
            <a:endParaRPr lang="en-US" sz="2000" dirty="0"/>
          </a:p>
        </p:txBody>
      </p:sp>
      <p:sp>
        <p:nvSpPr>
          <p:cNvPr id="7" name="Text 5"/>
          <p:cNvSpPr/>
          <p:nvPr/>
        </p:nvSpPr>
        <p:spPr>
          <a:xfrm>
            <a:off x="812780" y="3295470"/>
            <a:ext cx="341849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4DAFB"/>
                </a:solidFill>
                <a:latin typeface="IBM Plex Sans" pitchFamily="34" charset="0"/>
                <a:ea typeface="IBM Plex Sans" pitchFamily="34" charset="-122"/>
                <a:cs typeface="IBM Plex Sans" pitchFamily="34" charset="-120"/>
              </a:rPr>
              <a:t>Dijkstra dan A* menemukan jalur yang sama pada graf berbobot non-negatif.</a:t>
            </a:r>
            <a:endParaRPr lang="en-US" sz="1500" dirty="0"/>
          </a:p>
        </p:txBody>
      </p:sp>
      <p:sp>
        <p:nvSpPr>
          <p:cNvPr id="8" name="Shape 6"/>
          <p:cNvSpPr/>
          <p:nvPr/>
        </p:nvSpPr>
        <p:spPr>
          <a:xfrm>
            <a:off x="4436507" y="1965244"/>
            <a:ext cx="3318987" cy="0"/>
          </a:xfrm>
          <a:prstGeom prst="line">
            <a:avLst/>
          </a:prstGeom>
          <a:noFill/>
          <a:ln w="19050">
            <a:solidFill>
              <a:srgbClr val="8F6AE8"/>
            </a:solidFill>
            <a:prstDash val="solid"/>
          </a:ln>
        </p:spPr>
      </p:sp>
      <p:sp>
        <p:nvSpPr>
          <p:cNvPr id="9" name="Text 7"/>
          <p:cNvSpPr/>
          <p:nvPr/>
        </p:nvSpPr>
        <p:spPr>
          <a:xfrm>
            <a:off x="4436507" y="2177951"/>
            <a:ext cx="3418556"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C9B5FA"/>
                </a:solidFill>
                <a:latin typeface="Space Grotesk" pitchFamily="34" charset="0"/>
                <a:ea typeface="Space Grotesk" pitchFamily="34" charset="-122"/>
                <a:cs typeface="Space Grotesk" pitchFamily="34" charset="-120"/>
              </a:rPr>
              <a:t>2</a:t>
            </a:r>
            <a:endParaRPr lang="en-US" sz="4800" dirty="0"/>
          </a:p>
        </p:txBody>
      </p:sp>
      <p:sp>
        <p:nvSpPr>
          <p:cNvPr id="10" name="Text 8"/>
          <p:cNvSpPr/>
          <p:nvPr/>
        </p:nvSpPr>
        <p:spPr>
          <a:xfrm>
            <a:off x="4436507" y="2889107"/>
            <a:ext cx="341855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3EE"/>
                </a:solidFill>
                <a:latin typeface="Space Grotesk" pitchFamily="34" charset="0"/>
                <a:ea typeface="Space Grotesk" pitchFamily="34" charset="-122"/>
                <a:cs typeface="Space Grotesk" pitchFamily="34" charset="-120"/>
              </a:rPr>
              <a:t>A* lebih hemat langkah</a:t>
            </a:r>
            <a:endParaRPr lang="en-US" sz="2000" dirty="0"/>
          </a:p>
        </p:txBody>
      </p:sp>
      <p:sp>
        <p:nvSpPr>
          <p:cNvPr id="11" name="Text 9"/>
          <p:cNvSpPr/>
          <p:nvPr/>
        </p:nvSpPr>
        <p:spPr>
          <a:xfrm>
            <a:off x="4436507" y="3295470"/>
            <a:ext cx="341855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4DAFB"/>
                </a:solidFill>
                <a:latin typeface="IBM Plex Sans" pitchFamily="34" charset="0"/>
                <a:ea typeface="IBM Plex Sans" pitchFamily="34" charset="-122"/>
                <a:cs typeface="IBM Plex Sans" pitchFamily="34" charset="-120"/>
              </a:rPr>
              <a:t>Heuristik memangkas simpul yang diperiksa: 7 dibanding 12.</a:t>
            </a:r>
            <a:endParaRPr lang="en-US" sz="1500" dirty="0"/>
          </a:p>
        </p:txBody>
      </p:sp>
      <p:sp>
        <p:nvSpPr>
          <p:cNvPr id="12" name="Shape 10"/>
          <p:cNvSpPr/>
          <p:nvPr/>
        </p:nvSpPr>
        <p:spPr>
          <a:xfrm>
            <a:off x="8060293" y="1965244"/>
            <a:ext cx="3318927" cy="0"/>
          </a:xfrm>
          <a:prstGeom prst="line">
            <a:avLst/>
          </a:prstGeom>
          <a:noFill/>
          <a:ln w="19050">
            <a:solidFill>
              <a:srgbClr val="8F6AE8"/>
            </a:solidFill>
            <a:prstDash val="solid"/>
          </a:ln>
        </p:spPr>
      </p:sp>
      <p:sp>
        <p:nvSpPr>
          <p:cNvPr id="13" name="Text 11"/>
          <p:cNvSpPr/>
          <p:nvPr/>
        </p:nvSpPr>
        <p:spPr>
          <a:xfrm>
            <a:off x="8060293" y="2177951"/>
            <a:ext cx="3418495"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C9B5FA"/>
                </a:solidFill>
                <a:latin typeface="Space Grotesk" pitchFamily="34" charset="0"/>
                <a:ea typeface="Space Grotesk" pitchFamily="34" charset="-122"/>
                <a:cs typeface="Space Grotesk" pitchFamily="34" charset="-120"/>
              </a:rPr>
              <a:t>3</a:t>
            </a:r>
            <a:endParaRPr lang="en-US" sz="4800" dirty="0"/>
          </a:p>
        </p:txBody>
      </p:sp>
      <p:sp>
        <p:nvSpPr>
          <p:cNvPr id="14" name="Text 12"/>
          <p:cNvSpPr/>
          <p:nvPr/>
        </p:nvSpPr>
        <p:spPr>
          <a:xfrm>
            <a:off x="8060293" y="2889107"/>
            <a:ext cx="3418495"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3EE"/>
                </a:solidFill>
                <a:latin typeface="Space Grotesk" pitchFamily="34" charset="0"/>
                <a:ea typeface="Space Grotesk" pitchFamily="34" charset="-122"/>
                <a:cs typeface="Space Grotesk" pitchFamily="34" charset="-120"/>
              </a:rPr>
              <a:t>Graf kecil, Dijkstra lebih cepat</a:t>
            </a:r>
            <a:endParaRPr lang="en-US" sz="2000" dirty="0"/>
          </a:p>
        </p:txBody>
      </p:sp>
      <p:sp>
        <p:nvSpPr>
          <p:cNvPr id="15" name="Text 13"/>
          <p:cNvSpPr/>
          <p:nvPr/>
        </p:nvSpPr>
        <p:spPr>
          <a:xfrm>
            <a:off x="8060293" y="3600270"/>
            <a:ext cx="341849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4DAFB"/>
                </a:solidFill>
                <a:latin typeface="IBM Plex Sans" pitchFamily="34" charset="0"/>
                <a:ea typeface="IBM Plex Sans" pitchFamily="34" charset="-122"/>
                <a:cs typeface="IBM Plex Sans" pitchFamily="34" charset="-120"/>
              </a:rPr>
              <a:t>Biaya menghitung heuristik baru terbayar pada graf yang besar.</a:t>
            </a:r>
            <a:endParaRPr lang="en-US" sz="1500" dirty="0"/>
          </a:p>
        </p:txBody>
      </p:sp>
      <p:sp>
        <p:nvSpPr>
          <p:cNvPr id="16" name="Text 14"/>
          <p:cNvSpPr/>
          <p:nvPr/>
        </p:nvSpPr>
        <p:spPr>
          <a:xfrm>
            <a:off x="812780" y="6235774"/>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9CCF7"/>
                </a:solidFill>
                <a:latin typeface="IBM Plex Sans" pitchFamily="34" charset="0"/>
                <a:ea typeface="IBM Plex Sans" pitchFamily="34" charset="-122"/>
                <a:cs typeface="IBM Plex Sans" pitchFamily="34" charset="-120"/>
              </a:rPr>
              <a:t>Pembicara 4 · [Nama 4]</a:t>
            </a:r>
            <a:endParaRPr lang="en-US" sz="1200" dirty="0"/>
          </a:p>
        </p:txBody>
      </p:sp>
      <p:sp>
        <p:nvSpPr>
          <p:cNvPr id="17" name="Text 15"/>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9CCF7"/>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SARAN PENGEMBANGAN</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Empat arah pengembangan berikutnya</a:t>
            </a:r>
            <a:endParaRPr lang="en-US" sz="3200" dirty="0"/>
          </a:p>
        </p:txBody>
      </p:sp>
      <p:sp>
        <p:nvSpPr>
          <p:cNvPr id="4" name="Shape 2"/>
          <p:cNvSpPr/>
          <p:nvPr/>
        </p:nvSpPr>
        <p:spPr>
          <a:xfrm>
            <a:off x="815955" y="1857332"/>
            <a:ext cx="5175250" cy="1398171"/>
          </a:xfrm>
          <a:prstGeom prst="roundRect">
            <a:avLst>
              <a:gd name="adj" fmla="val 8856"/>
            </a:avLst>
          </a:prstGeom>
          <a:solidFill>
            <a:srgbClr val="FFFDF8"/>
          </a:solidFill>
          <a:ln w="6350">
            <a:solidFill>
              <a:srgbClr val="DDD8CC"/>
            </a:solidFill>
            <a:prstDash val="solid"/>
          </a:ln>
        </p:spPr>
      </p:sp>
      <p:pic>
        <p:nvPicPr>
          <p:cNvPr id="5" name="Image 0" descr="Tool">    </p:cNvPr>
          <p:cNvPicPr>
            <a:picLocks noChangeAspect="1"/>
          </p:cNvPicPr>
          <p:nvPr/>
        </p:nvPicPr>
        <p:blipFill>
          <a:blip r:embed="rId1"/>
          <a:srcRect l="0" r="0" t="-614" b="-614"/>
          <a:stretch/>
        </p:blipFill>
        <p:spPr>
          <a:xfrm>
            <a:off x="1070551" y="2111927"/>
            <a:ext cx="188178" cy="355580"/>
          </a:xfrm>
          <a:prstGeom prst="rect">
            <a:avLst/>
          </a:prstGeom>
        </p:spPr>
      </p:pic>
      <p:sp>
        <p:nvSpPr>
          <p:cNvPr id="6" name="Text 3"/>
          <p:cNvSpPr/>
          <p:nvPr/>
        </p:nvSpPr>
        <p:spPr>
          <a:xfrm>
            <a:off x="1411129" y="2111927"/>
            <a:ext cx="445524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Tambah Bellman-Ford</a:t>
            </a:r>
            <a:endParaRPr lang="en-US" sz="2000" dirty="0"/>
          </a:p>
        </p:txBody>
      </p:sp>
      <p:sp>
        <p:nvSpPr>
          <p:cNvPr id="7" name="Text 4"/>
          <p:cNvSpPr/>
          <p:nvPr/>
        </p:nvSpPr>
        <p:spPr>
          <a:xfrm>
            <a:off x="1411129" y="2467515"/>
            <a:ext cx="44552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Agar bisa menangani bobot negatif. Algoritma baru cukup didaftarkan di satu tempat pada kode.</a:t>
            </a:r>
            <a:endParaRPr lang="en-US" sz="1500" dirty="0"/>
          </a:p>
        </p:txBody>
      </p:sp>
      <p:sp>
        <p:nvSpPr>
          <p:cNvPr id="8" name="Shape 5"/>
          <p:cNvSpPr/>
          <p:nvPr/>
        </p:nvSpPr>
        <p:spPr>
          <a:xfrm>
            <a:off x="6200735" y="1857332"/>
            <a:ext cx="5175310" cy="1398171"/>
          </a:xfrm>
          <a:prstGeom prst="roundRect">
            <a:avLst>
              <a:gd name="adj" fmla="val 8856"/>
            </a:avLst>
          </a:prstGeom>
          <a:solidFill>
            <a:srgbClr val="FFFDF8"/>
          </a:solidFill>
          <a:ln w="6350">
            <a:solidFill>
              <a:srgbClr val="DDD8CC"/>
            </a:solidFill>
            <a:prstDash val="solid"/>
          </a:ln>
        </p:spPr>
      </p:sp>
      <p:pic>
        <p:nvPicPr>
          <p:cNvPr id="9" name="Image 1" descr="Globe">    </p:cNvPr>
          <p:cNvPicPr>
            <a:picLocks noChangeAspect="1"/>
          </p:cNvPicPr>
          <p:nvPr/>
        </p:nvPicPr>
        <p:blipFill>
          <a:blip r:embed="rId2"/>
          <a:srcRect l="0" r="0" t="-28" b="-28"/>
          <a:stretch/>
        </p:blipFill>
        <p:spPr>
          <a:xfrm>
            <a:off x="6455331" y="2111927"/>
            <a:ext cx="222111" cy="355580"/>
          </a:xfrm>
          <a:prstGeom prst="rect">
            <a:avLst/>
          </a:prstGeom>
        </p:spPr>
      </p:pic>
      <p:sp>
        <p:nvSpPr>
          <p:cNvPr id="10" name="Text 6"/>
          <p:cNvSpPr/>
          <p:nvPr/>
        </p:nvSpPr>
        <p:spPr>
          <a:xfrm>
            <a:off x="6829842" y="2111927"/>
            <a:ext cx="442035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Heuristik garis lurus</a:t>
            </a:r>
            <a:endParaRPr lang="en-US" sz="2000" dirty="0"/>
          </a:p>
        </p:txBody>
      </p:sp>
      <p:sp>
        <p:nvSpPr>
          <p:cNvPr id="11" name="Text 7"/>
          <p:cNvSpPr/>
          <p:nvPr/>
        </p:nvSpPr>
        <p:spPr>
          <a:xfrm>
            <a:off x="6829842" y="2467515"/>
            <a:ext cx="442035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Jika graf punya koordinat, misalnya peta kampus USK, A* akan jauh lebih unggul.</a:t>
            </a:r>
            <a:endParaRPr lang="en-US" sz="1500" dirty="0"/>
          </a:p>
        </p:txBody>
      </p:sp>
      <p:sp>
        <p:nvSpPr>
          <p:cNvPr id="12" name="Shape 8"/>
          <p:cNvSpPr/>
          <p:nvPr/>
        </p:nvSpPr>
        <p:spPr>
          <a:xfrm>
            <a:off x="815955" y="3465035"/>
            <a:ext cx="5175250" cy="1398171"/>
          </a:xfrm>
          <a:prstGeom prst="roundRect">
            <a:avLst>
              <a:gd name="adj" fmla="val 8856"/>
            </a:avLst>
          </a:prstGeom>
          <a:solidFill>
            <a:srgbClr val="FFFDF8"/>
          </a:solidFill>
          <a:ln w="6350">
            <a:solidFill>
              <a:srgbClr val="DDD8CC"/>
            </a:solidFill>
            <a:prstDash val="solid"/>
          </a:ln>
        </p:spPr>
      </p:sp>
      <p:pic>
        <p:nvPicPr>
          <p:cNvPr id="13" name="Image 2" descr="Database">    </p:cNvPr>
          <p:cNvPicPr>
            <a:picLocks noChangeAspect="1"/>
          </p:cNvPicPr>
          <p:nvPr/>
        </p:nvPicPr>
        <p:blipFill>
          <a:blip r:embed="rId3"/>
          <a:srcRect l="0" r="0" t="-35" b="-35"/>
          <a:stretch/>
        </p:blipFill>
        <p:spPr>
          <a:xfrm>
            <a:off x="1070551" y="3719630"/>
            <a:ext cx="260152" cy="355580"/>
          </a:xfrm>
          <a:prstGeom prst="rect">
            <a:avLst/>
          </a:prstGeom>
        </p:spPr>
      </p:pic>
      <p:sp>
        <p:nvSpPr>
          <p:cNvPr id="14" name="Text 9"/>
          <p:cNvSpPr/>
          <p:nvPr/>
        </p:nvSpPr>
        <p:spPr>
          <a:xfrm>
            <a:off x="1483102" y="3719630"/>
            <a:ext cx="43811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Uji graf besar</a:t>
            </a:r>
            <a:endParaRPr lang="en-US" sz="2000" dirty="0"/>
          </a:p>
        </p:txBody>
      </p:sp>
      <p:sp>
        <p:nvSpPr>
          <p:cNvPr id="15" name="Text 10"/>
          <p:cNvSpPr/>
          <p:nvPr/>
        </p:nvSpPr>
        <p:spPr>
          <a:xfrm>
            <a:off x="1483102" y="4075206"/>
            <a:ext cx="438111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Graf berisi ribuan simpul untuk melihat skalabilitas kedua algoritma.</a:t>
            </a:r>
            <a:endParaRPr lang="en-US" sz="1500" dirty="0"/>
          </a:p>
        </p:txBody>
      </p:sp>
      <p:sp>
        <p:nvSpPr>
          <p:cNvPr id="16" name="Shape 11"/>
          <p:cNvSpPr/>
          <p:nvPr/>
        </p:nvSpPr>
        <p:spPr>
          <a:xfrm>
            <a:off x="6200735" y="3465035"/>
            <a:ext cx="5175310" cy="1398171"/>
          </a:xfrm>
          <a:prstGeom prst="roundRect">
            <a:avLst>
              <a:gd name="adj" fmla="val 8856"/>
            </a:avLst>
          </a:prstGeom>
          <a:solidFill>
            <a:srgbClr val="FFFDF8"/>
          </a:solidFill>
          <a:ln w="6350">
            <a:solidFill>
              <a:srgbClr val="DDD8CC"/>
            </a:solidFill>
            <a:prstDash val="solid"/>
          </a:ln>
        </p:spPr>
      </p:sp>
      <p:pic>
        <p:nvPicPr>
          <p:cNvPr id="17" name="Image 3" descr="Settings">    </p:cNvPr>
          <p:cNvPicPr>
            <a:picLocks noChangeAspect="1"/>
          </p:cNvPicPr>
          <p:nvPr/>
        </p:nvPicPr>
        <p:blipFill>
          <a:blip r:embed="rId4"/>
          <a:srcRect l="-332" r="-332" t="0" b="0"/>
          <a:stretch/>
        </p:blipFill>
        <p:spPr>
          <a:xfrm>
            <a:off x="6455331" y="3719630"/>
            <a:ext cx="242888" cy="355580"/>
          </a:xfrm>
          <a:prstGeom prst="rect">
            <a:avLst/>
          </a:prstGeom>
        </p:spPr>
      </p:pic>
      <p:sp>
        <p:nvSpPr>
          <p:cNvPr id="18" name="Text 12"/>
          <p:cNvSpPr/>
          <p:nvPr/>
        </p:nvSpPr>
        <p:spPr>
          <a:xfrm>
            <a:off x="6850618" y="3719630"/>
            <a:ext cx="439895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Fitur GUI baru</a:t>
            </a:r>
            <a:endParaRPr lang="en-US" sz="2000" dirty="0"/>
          </a:p>
        </p:txBody>
      </p:sp>
      <p:sp>
        <p:nvSpPr>
          <p:cNvPr id="19" name="Text 13"/>
          <p:cNvSpPr/>
          <p:nvPr/>
        </p:nvSpPr>
        <p:spPr>
          <a:xfrm>
            <a:off x="6850618" y="4075206"/>
            <a:ext cx="439895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Menyunting graf secara langsung dan mundur satu langkah pada animasi.</a:t>
            </a:r>
            <a:endParaRPr lang="en-US" sz="1500" dirty="0"/>
          </a:p>
        </p:txBody>
      </p:sp>
      <p:sp>
        <p:nvSpPr>
          <p:cNvPr id="20" name="Text 14"/>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a:t>
            </a:r>
            <a:endParaRPr lang="en-US" sz="1200" dirty="0"/>
          </a:p>
        </p:txBody>
      </p:sp>
      <p:sp>
        <p:nvSpPr>
          <p:cNvPr id="21" name="Text 15"/>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33B"/>
        </a:solidFill>
      </p:bgPr>
    </p:bg>
    <p:spTree>
      <p:nvGrpSpPr>
        <p:cNvPr id="1" name=""/>
        <p:cNvGrpSpPr/>
        <p:nvPr/>
      </p:nvGrpSpPr>
      <p:grpSpPr>
        <a:xfrm>
          <a:off x="0" y="0"/>
          <a:ext cx="0" cy="0"/>
          <a:chOff x="0" y="0"/>
          <a:chExt cx="0" cy="0"/>
        </a:xfrm>
      </p:grpSpPr>
      <p:pic>
        <p:nvPicPr>
          <p:cNvPr id="2" name="Image 0" descr="Ilustrasi graf dengan jalur terpendek berwarna ungu">    </p:cNvPr>
          <p:cNvPicPr>
            <a:picLocks noChangeAspect="1"/>
          </p:cNvPicPr>
          <p:nvPr/>
        </p:nvPicPr>
        <p:blipFill>
          <a:blip r:embed="rId1"/>
          <a:srcRect l="0" r="0" t="0" b="0"/>
          <a:stretch/>
        </p:blipFill>
        <p:spPr>
          <a:xfrm>
            <a:off x="7492960" y="1015963"/>
            <a:ext cx="3810000" cy="4825960"/>
          </a:xfrm>
          <a:prstGeom prst="rect">
            <a:avLst/>
          </a:prstGeom>
        </p:spPr>
      </p:pic>
      <p:sp>
        <p:nvSpPr>
          <p:cNvPr id="3" name="Text 0"/>
          <p:cNvSpPr/>
          <p:nvPr/>
        </p:nvSpPr>
        <p:spPr>
          <a:xfrm>
            <a:off x="812780" y="1946796"/>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8892B"/>
                </a:solidFill>
                <a:latin typeface="IBM Plex Sans" pitchFamily="34" charset="0"/>
                <a:ea typeface="IBM Plex Sans" pitchFamily="34" charset="-122"/>
                <a:cs typeface="IBM Plex Sans" pitchFamily="34" charset="-120"/>
              </a:rPr>
              <a:t>PENUTUP</a:t>
            </a:r>
            <a:endParaRPr lang="en-US" sz="1200" dirty="0"/>
          </a:p>
        </p:txBody>
      </p:sp>
      <p:sp>
        <p:nvSpPr>
          <p:cNvPr id="4" name="Text 1"/>
          <p:cNvSpPr/>
          <p:nvPr>
            <p:ph type="title"/>
          </p:nvPr>
        </p:nvSpPr>
        <p:spPr>
          <a:xfrm>
            <a:off x="812780" y="2414116"/>
            <a:ext cx="6409670" cy="683756"/>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5F3EE"/>
                </a:solidFill>
                <a:latin typeface="Space Grotesk" pitchFamily="34" charset="0"/>
                <a:ea typeface="Space Grotesk" pitchFamily="34" charset="-122"/>
                <a:cs typeface="Space Grotesk" pitchFamily="34" charset="-120"/>
              </a:rPr>
              <a:t>Terima kasih</a:t>
            </a:r>
            <a:endParaRPr lang="en-US" sz="4800" dirty="0"/>
          </a:p>
        </p:txBody>
      </p:sp>
      <p:sp>
        <p:nvSpPr>
          <p:cNvPr id="5" name="Text 2"/>
          <p:cNvSpPr/>
          <p:nvPr/>
        </p:nvSpPr>
        <p:spPr>
          <a:xfrm>
            <a:off x="812780" y="3250233"/>
            <a:ext cx="6409670" cy="59428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3D3"/>
                </a:solidFill>
                <a:latin typeface="IBM Plex Sans" pitchFamily="34" charset="0"/>
                <a:ea typeface="IBM Plex Sans" pitchFamily="34" charset="-122"/>
                <a:cs typeface="IBM Plex Sans" pitchFamily="34" charset="-120"/>
              </a:rPr>
              <a:t>Kami menyadari masih ada kekurangan. Kritik dan saran sangat kami harapkan.</a:t>
            </a:r>
            <a:endParaRPr lang="en-US" sz="1600" dirty="0"/>
          </a:p>
        </p:txBody>
      </p:sp>
      <p:sp>
        <p:nvSpPr>
          <p:cNvPr id="6" name="Text 3"/>
          <p:cNvSpPr/>
          <p:nvPr/>
        </p:nvSpPr>
        <p:spPr>
          <a:xfrm>
            <a:off x="812780" y="3996879"/>
            <a:ext cx="6409670" cy="309840"/>
          </a:xfrm>
          <a:prstGeom prst="rect">
            <a:avLst/>
          </a:prstGeom>
          <a:noFill/>
          <a:ln/>
        </p:spPr>
        <p:txBody>
          <a:bodyPr wrap="square" lIns="0" tIns="0" rIns="0" bIns="0" rtlCol="0" anchor="t">
            <a:normAutofit/>
          </a:bodyPr>
          <a:lstStyle/>
          <a:p>
            <a:pPr algn="l" indent="0" marL="0">
              <a:lnSpc>
                <a:spcPts val="2240"/>
              </a:lnSpc>
              <a:buNone/>
            </a:pPr>
            <a:r>
              <a:rPr lang="en-US" sz="1600" i="1" dirty="0">
                <a:solidFill>
                  <a:srgbClr val="F2A65A"/>
                </a:solidFill>
                <a:latin typeface="IBM Plex Sans" pitchFamily="34" charset="0"/>
                <a:ea typeface="IBM Plex Sans" pitchFamily="34" charset="-122"/>
                <a:cs typeface="IBM Plex Sans" pitchFamily="34" charset="-120"/>
              </a:rPr>
              <a:t>Wassalamu'alaikum warahmatullahi wabarakatuh</a:t>
            </a:r>
            <a:endParaRPr lang="en-US" sz="1600" dirty="0"/>
          </a:p>
        </p:txBody>
      </p:sp>
      <p:sp>
        <p:nvSpPr>
          <p:cNvPr id="7" name="Text 4"/>
          <p:cNvSpPr/>
          <p:nvPr/>
        </p:nvSpPr>
        <p:spPr>
          <a:xfrm>
            <a:off x="812780" y="4459077"/>
            <a:ext cx="6409670"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3D3"/>
                </a:solidFill>
                <a:latin typeface="IBM Plex Sans" pitchFamily="34" charset="0"/>
                <a:ea typeface="IBM Plex Sans" pitchFamily="34" charset="-122"/>
                <a:cs typeface="IBM Plex Sans" pitchFamily="34" charset="-120"/>
              </a:rPr>
              <a:t>Kelompok [X] · [Nama 1] · [Nama 2] · [Nama 3] · [Nama 4]</a:t>
            </a:r>
            <a:endParaRPr lang="en-US" sz="1400" dirty="0"/>
          </a:p>
        </p:txBody>
      </p:sp>
      <p:sp>
        <p:nvSpPr>
          <p:cNvPr id="8" name="Text 5"/>
          <p:cNvSpPr/>
          <p:nvPr/>
        </p:nvSpPr>
        <p:spPr>
          <a:xfrm>
            <a:off x="812780" y="6235787"/>
            <a:ext cx="3888772"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Pembicara 4 · [Nama 4] · semua anggota tampil</a:t>
            </a:r>
            <a:endParaRPr lang="en-US" sz="1200" dirty="0"/>
          </a:p>
        </p:txBody>
      </p:sp>
      <p:sp>
        <p:nvSpPr>
          <p:cNvPr id="9" name="Text 6"/>
          <p:cNvSpPr/>
          <p:nvPr/>
        </p:nvSpPr>
        <p:spPr>
          <a:xfrm>
            <a:off x="11145541" y="6235787"/>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theme/theme1.xml><?xml version="1.0" encoding="utf-8"?>
<a:theme xmlns:a="http://schemas.openxmlformats.org/drawingml/2006/main" name="Slide Presentasi Tugas 1 – Shortest Path Dijkstra vs A*">
  <a:themeElements>
    <a:clrScheme name="Slide Presentasi Tugas 1 – Shortest Path Dijkstra vs A*">
      <a:dk1>
        <a:srgbClr val="14233B"/>
      </a:dk1>
      <a:lt1>
        <a:srgbClr val="F5F3EE"/>
      </a:lt1>
      <a:dk2>
        <a:srgbClr val="4C5768"/>
      </a:dk2>
      <a:lt2>
        <a:srgbClr val="DFDEDC"/>
      </a:lt2>
      <a:accent1>
        <a:srgbClr val="6D35D6"/>
      </a:accent1>
      <a:accent2>
        <a:srgbClr val="4A2A9E"/>
      </a:accent2>
      <a:accent3>
        <a:srgbClr val="C9B5FA"/>
      </a:accent3>
      <a:accent4>
        <a:srgbClr val="E8892B"/>
      </a:accent4>
      <a:accent5>
        <a:srgbClr val="2E7D4F"/>
      </a:accent5>
      <a:accent6>
        <a:srgbClr val="F2A65A"/>
      </a:accent6>
      <a:hlink>
        <a:srgbClr val="0563C1"/>
      </a:hlink>
      <a:folHlink>
        <a:srgbClr val="954F72"/>
      </a:folHlink>
    </a:clrScheme>
    <a:fontScheme name="Slide Presentasi Tugas 1 – Shortest Path Dijkstra vs A*">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Presentasi Tugas 1 – Shortest Path Dijkstra vs A*</dc:title>
  <dc:subject/>
  <dc:creator/>
  <cp:lastModifiedBy/>
  <cp:revision>1</cp:revision>
  <dcterms:created xsi:type="dcterms:W3CDTF">2026-10-09T00:04:15Z</dcterms:created>
  <dcterms:modified xsi:type="dcterms:W3CDTF">2026-10-09T00:04:15Z</dcterms:modified>
</cp:coreProperties>
</file>